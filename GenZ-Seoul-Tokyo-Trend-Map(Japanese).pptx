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61" r:id="rId4"/>
    <p:sldId id="258" r:id="rId5"/>
    <p:sldId id="268" r:id="rId6"/>
    <p:sldId id="269" r:id="rId7"/>
    <p:sldId id="260" r:id="rId8"/>
    <p:sldId id="270" r:id="rId9"/>
    <p:sldId id="271" r:id="rId10"/>
    <p:sldId id="262" r:id="rId11"/>
    <p:sldId id="263" r:id="rId12"/>
    <p:sldId id="264" r:id="rId13"/>
    <p:sldId id="265" r:id="rId14"/>
    <p:sldId id="266" r:id="rId15"/>
    <p:sldId id="267" r:id="rId16"/>
  </p:sldIdLst>
  <p:sldSz cx="18288000" cy="10287000"/>
  <p:notesSz cx="6858000" cy="9144000"/>
  <p:embeddedFontLst>
    <p:embeddedFont>
      <p:font typeface="TT Interphases" panose="02000503020000020004" pitchFamily="2" charset="0"/>
      <p:regular r:id=""/>
    </p:embeddedFont>
    <p:embeddedFont>
      <p:font typeface="TT Ramillas" panose="020E0000080000020004" pitchFamily="34" charset="0"/>
      <p:regular r:id=""/>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498" autoAdjust="0"/>
    <p:restoredTop sz="94666" autoAdjust="0"/>
  </p:normalViewPr>
  <p:slideViewPr>
    <p:cSldViewPr>
      <p:cViewPr varScale="1">
        <p:scale>
          <a:sx n="68" d="100"/>
          <a:sy n="68" d="100"/>
        </p:scale>
        <p:origin x="936" y="21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2A6C"/>
        </a:solidFill>
        <a:effectLst/>
      </p:bgPr>
    </p:bg>
    <p:spTree>
      <p:nvGrpSpPr>
        <p:cNvPr id="1" name=""/>
        <p:cNvGrpSpPr/>
        <p:nvPr/>
      </p:nvGrpSpPr>
      <p:grpSpPr>
        <a:xfrm>
          <a:off x="0" y="0"/>
          <a:ext cx="0" cy="0"/>
          <a:chOff x="0" y="0"/>
          <a:chExt cx="0" cy="0"/>
        </a:xfrm>
      </p:grpSpPr>
      <p:sp>
        <p:nvSpPr>
          <p:cNvPr id="7" name="AutoShape 7"/>
          <p:cNvSpPr/>
          <p:nvPr/>
        </p:nvSpPr>
        <p:spPr>
          <a:xfrm>
            <a:off x="10429875" y="9620250"/>
            <a:ext cx="7191375" cy="0"/>
          </a:xfrm>
          <a:prstGeom prst="line">
            <a:avLst/>
          </a:prstGeom>
          <a:ln w="19050" cap="flat">
            <a:solidFill>
              <a:srgbClr val="F3F3F3"/>
            </a:solidFill>
            <a:prstDash val="solid"/>
            <a:headEnd type="none" w="sm" len="sm"/>
            <a:tailEnd type="none" w="sm" len="sm"/>
          </a:ln>
        </p:spPr>
        <p:txBody>
          <a:bodyPr/>
          <a:lstStyle/>
          <a:p>
            <a:endParaRPr lang="ko-KR" altLang="en-US"/>
          </a:p>
        </p:txBody>
      </p:sp>
      <p:grpSp>
        <p:nvGrpSpPr>
          <p:cNvPr id="8" name="Group 8"/>
          <p:cNvGrpSpPr/>
          <p:nvPr/>
        </p:nvGrpSpPr>
        <p:grpSpPr>
          <a:xfrm>
            <a:off x="0" y="0"/>
            <a:ext cx="9296400" cy="10287000"/>
            <a:chOff x="0" y="0"/>
            <a:chExt cx="1440256" cy="1593725"/>
          </a:xfrm>
        </p:grpSpPr>
        <p:sp>
          <p:nvSpPr>
            <p:cNvPr id="9" name="Freeform 9"/>
            <p:cNvSpPr/>
            <p:nvPr/>
          </p:nvSpPr>
          <p:spPr>
            <a:xfrm>
              <a:off x="0" y="0"/>
              <a:ext cx="1440256" cy="1593725"/>
            </a:xfrm>
            <a:custGeom>
              <a:avLst/>
              <a:gdLst/>
              <a:ahLst/>
              <a:cxnLst/>
              <a:rect l="l" t="t" r="r" b="b"/>
              <a:pathLst>
                <a:path w="1440256" h="1593725">
                  <a:moveTo>
                    <a:pt x="0" y="0"/>
                  </a:moveTo>
                  <a:lnTo>
                    <a:pt x="1440256" y="0"/>
                  </a:lnTo>
                  <a:lnTo>
                    <a:pt x="1440256" y="1593725"/>
                  </a:lnTo>
                  <a:lnTo>
                    <a:pt x="0" y="1593725"/>
                  </a:lnTo>
                  <a:close/>
                </a:path>
              </a:pathLst>
            </a:custGeom>
            <a:blipFill>
              <a:blip/>
              <a:stretch>
                <a:fillRect t="-66" b="-66"/>
              </a:stretch>
            </a:blipFill>
          </p:spPr>
          <p:txBody>
            <a:bodyPr/>
            <a:lstStyle/>
            <a:p>
              <a:endParaRPr lang="ko-KR" altLang="en-US"/>
            </a:p>
          </p:txBody>
        </p:sp>
      </p:grpSp>
      <p:sp>
        <p:nvSpPr>
          <p:cNvPr id="10" name="TextBox 10"/>
          <p:cNvSpPr txBox="1"/>
          <p:nvPr/>
        </p:nvSpPr>
        <p:spPr>
          <a:xfrm>
            <a:off x="10734675" y="5075361"/>
            <a:ext cx="6743671" cy="1500411"/>
          </a:xfrm>
          <a:prstGeom prst="rect">
            <a:avLst/>
          </a:prstGeom>
        </p:spPr>
        <p:txBody>
          <a:bodyPr wrap="square" lIns="0" tIns="0" rIns="0" bIns="0" rtlCol="0" anchor="t">
            <a:spAutoFit/>
          </a:bodyPr>
          <a:lstStyle/>
          <a:p>
            <a:pPr lvl="0">
              <a:lnSpc>
                <a:spcPts val="2799"/>
              </a:lnSpc>
            </a:pPr>
            <a:r>
              <a:rPr lang="ko-KR" altLang="en-US" sz="4000" spc="-55" dirty="0" err="1">
                <a:solidFill>
                  <a:srgbClr val="F3F3F3"/>
                </a:solidFill>
                <a:latin typeface="TT Ramillas"/>
                <a:ea typeface="TT Ramillas"/>
                <a:cs typeface="TT Ramillas"/>
                <a:sym typeface="TT Ramillas"/>
              </a:rPr>
              <a:t>韓国・日本人</a:t>
            </a:r>
            <a:r>
              <a:rPr lang="ja-JP" altLang="en-US" sz="4000" spc="-55">
                <a:solidFill>
                  <a:srgbClr val="F3F3F3"/>
                </a:solidFill>
                <a:latin typeface="TT Ramillas"/>
                <a:ea typeface="TT Ramillas"/>
                <a:cs typeface="TT Ramillas"/>
                <a:sym typeface="TT Ramillas"/>
              </a:rPr>
              <a:t>が</a:t>
            </a:r>
            <a:r>
              <a:rPr lang="ko-KR" altLang="en-US" sz="4000" spc="-55">
                <a:solidFill>
                  <a:srgbClr val="F3F3F3"/>
                </a:solidFill>
                <a:latin typeface="TT Ramillas"/>
                <a:ea typeface="TT Ramillas"/>
                <a:cs typeface="TT Ramillas"/>
                <a:sym typeface="TT Ramillas"/>
              </a:rPr>
              <a:t>選</a:t>
            </a:r>
            <a:r>
              <a:rPr lang="ja-JP" altLang="en-US" sz="4000" spc="-55">
                <a:solidFill>
                  <a:srgbClr val="F3F3F3"/>
                </a:solidFill>
                <a:latin typeface="TT Ramillas"/>
                <a:ea typeface="TT Ramillas"/>
                <a:cs typeface="TT Ramillas"/>
                <a:sym typeface="TT Ramillas"/>
              </a:rPr>
              <a:t>んだ</a:t>
            </a:r>
            <a:endParaRPr lang="en-US" altLang="ja-JP" sz="4000" spc="-55" dirty="0">
              <a:solidFill>
                <a:srgbClr val="F3F3F3"/>
              </a:solidFill>
              <a:latin typeface="TT Ramillas"/>
              <a:ea typeface="TT Ramillas"/>
              <a:cs typeface="TT Ramillas"/>
              <a:sym typeface="TT Ramillas"/>
            </a:endParaRPr>
          </a:p>
          <a:p>
            <a:pPr lvl="0">
              <a:lnSpc>
                <a:spcPts val="2799"/>
              </a:lnSpc>
            </a:pPr>
            <a:endParaRPr lang="en-US" sz="4000" spc="-55" dirty="0">
              <a:solidFill>
                <a:srgbClr val="F3F3F3"/>
              </a:solidFill>
              <a:latin typeface="TT Ramillas"/>
              <a:ea typeface="TT Ramillas"/>
              <a:cs typeface="TT Ramillas"/>
              <a:sym typeface="TT Ramillas"/>
            </a:endParaRPr>
          </a:p>
          <a:p>
            <a:pPr lvl="0">
              <a:lnSpc>
                <a:spcPts val="2799"/>
              </a:lnSpc>
            </a:pPr>
            <a:r>
              <a:rPr lang="ja-JP" altLang="en-US" sz="4000" spc="-55">
                <a:solidFill>
                  <a:srgbClr val="F3F3F3"/>
                </a:solidFill>
                <a:latin typeface="TT Ramillas"/>
                <a:ea typeface="TT Ramillas"/>
                <a:cs typeface="TT Ramillas"/>
                <a:sym typeface="TT Ramillas"/>
              </a:rPr>
              <a:t>ソウルと</a:t>
            </a:r>
            <a:r>
              <a:rPr lang="ko-KR" altLang="en-US" sz="4000" spc="-55">
                <a:solidFill>
                  <a:srgbClr val="F3F3F3"/>
                </a:solidFill>
                <a:latin typeface="TT Ramillas"/>
                <a:ea typeface="TT Ramillas"/>
                <a:cs typeface="TT Ramillas"/>
                <a:sym typeface="TT Ramillas"/>
              </a:rPr>
              <a:t>東京</a:t>
            </a:r>
            <a:r>
              <a:rPr lang="ja-JP" altLang="en-US" sz="4000" spc="-55">
                <a:solidFill>
                  <a:srgbClr val="F3F3F3"/>
                </a:solidFill>
                <a:latin typeface="TT Ramillas"/>
                <a:ea typeface="TT Ramillas"/>
                <a:cs typeface="TT Ramillas"/>
                <a:sym typeface="TT Ramillas"/>
              </a:rPr>
              <a:t>の</a:t>
            </a:r>
            <a:r>
              <a:rPr lang="ko-KR" altLang="en-US" sz="4000" spc="-55">
                <a:solidFill>
                  <a:srgbClr val="F3F3F3"/>
                </a:solidFill>
                <a:latin typeface="TT Ramillas"/>
                <a:ea typeface="TT Ramillas"/>
                <a:cs typeface="TT Ramillas"/>
                <a:sym typeface="TT Ramillas"/>
              </a:rPr>
              <a:t>人気</a:t>
            </a:r>
            <a:r>
              <a:rPr lang="ja-JP" altLang="en-US" sz="4000" spc="-55">
                <a:solidFill>
                  <a:srgbClr val="F3F3F3"/>
                </a:solidFill>
                <a:latin typeface="TT Ramillas"/>
                <a:ea typeface="TT Ramillas"/>
                <a:cs typeface="TT Ramillas"/>
                <a:sym typeface="TT Ramillas"/>
              </a:rPr>
              <a:t>スポット</a:t>
            </a:r>
          </a:p>
          <a:p>
            <a:pPr lvl="0">
              <a:lnSpc>
                <a:spcPts val="2799"/>
              </a:lnSpc>
            </a:pPr>
            <a:endParaRPr lang="en-US" sz="4000" spc="-55" dirty="0">
              <a:solidFill>
                <a:srgbClr val="F3F3F3"/>
              </a:solidFill>
              <a:latin typeface="TT Ramillas"/>
              <a:ea typeface="TT Ramillas"/>
              <a:cs typeface="TT Ramillas"/>
              <a:sym typeface="TT Ramillas"/>
            </a:endParaRPr>
          </a:p>
        </p:txBody>
      </p:sp>
      <p:sp>
        <p:nvSpPr>
          <p:cNvPr id="11" name="TextBox 11"/>
          <p:cNvSpPr txBox="1"/>
          <p:nvPr/>
        </p:nvSpPr>
        <p:spPr>
          <a:xfrm>
            <a:off x="10734675" y="1447861"/>
            <a:ext cx="6886575" cy="2905125"/>
          </a:xfrm>
          <a:prstGeom prst="rect">
            <a:avLst/>
          </a:prstGeom>
        </p:spPr>
        <p:txBody>
          <a:bodyPr lIns="0" tIns="0" rIns="0" bIns="0" rtlCol="0" anchor="t">
            <a:spAutoFit/>
          </a:bodyPr>
          <a:lstStyle/>
          <a:p>
            <a:pPr marL="0" lvl="0" indent="0" algn="l">
              <a:lnSpc>
                <a:spcPts val="7500"/>
              </a:lnSpc>
            </a:pPr>
            <a:r>
              <a:rPr lang="en-US" sz="7500" spc="-150" dirty="0" err="1">
                <a:solidFill>
                  <a:srgbClr val="FFFFFF"/>
                </a:solidFill>
                <a:latin typeface="TT Ramillas"/>
                <a:ea typeface="TT Ramillas"/>
                <a:cs typeface="TT Ramillas"/>
                <a:sym typeface="TT Ramillas"/>
              </a:rPr>
              <a:t>KNNアルゴリズムを用いた人気スポットの探索</a:t>
            </a:r>
            <a:endParaRPr lang="en-US" sz="7500" spc="-150" dirty="0">
              <a:solidFill>
                <a:srgbClr val="FFFFFF"/>
              </a:solidFill>
              <a:latin typeface="TT Ramillas"/>
              <a:ea typeface="TT Ramillas"/>
              <a:cs typeface="TT Ramillas"/>
              <a:sym typeface="TT Ramillas"/>
            </a:endParaRPr>
          </a:p>
        </p:txBody>
      </p:sp>
      <p:sp>
        <p:nvSpPr>
          <p:cNvPr id="12" name="TextBox 12"/>
          <p:cNvSpPr txBox="1"/>
          <p:nvPr/>
        </p:nvSpPr>
        <p:spPr>
          <a:xfrm>
            <a:off x="10734675" y="8798560"/>
            <a:ext cx="6886575" cy="459740"/>
          </a:xfrm>
          <a:prstGeom prst="rect">
            <a:avLst/>
          </a:prstGeom>
        </p:spPr>
        <p:txBody>
          <a:bodyPr lIns="0" tIns="0" rIns="0" bIns="0" rtlCol="0" anchor="t">
            <a:spAutoFit/>
          </a:bodyPr>
          <a:lstStyle/>
          <a:p>
            <a:pPr marL="0" lvl="0" indent="0" algn="l">
              <a:lnSpc>
                <a:spcPts val="3639"/>
              </a:lnSpc>
              <a:spcBef>
                <a:spcPct val="0"/>
              </a:spcBef>
            </a:pPr>
            <a:r>
              <a:rPr lang="en-US" sz="2799" spc="139">
                <a:solidFill>
                  <a:srgbClr val="F3F3F3"/>
                </a:solidFill>
                <a:latin typeface="TT Interphases"/>
                <a:ea typeface="TT Interphases"/>
                <a:cs typeface="TT Interphases"/>
                <a:sym typeface="TT Interphases"/>
              </a:rPr>
              <a:t>イ・ヨンジェ</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2A6C"/>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8324850" cy="8953500"/>
            <a:chOff x="0" y="0"/>
            <a:chExt cx="1289737" cy="1387131"/>
          </a:xfrm>
        </p:grpSpPr>
        <p:sp>
          <p:nvSpPr>
            <p:cNvPr id="3" name="Freeform 3"/>
            <p:cNvSpPr/>
            <p:nvPr/>
          </p:nvSpPr>
          <p:spPr>
            <a:xfrm>
              <a:off x="0" y="0"/>
              <a:ext cx="1289737" cy="1387131"/>
            </a:xfrm>
            <a:custGeom>
              <a:avLst/>
              <a:gdLst/>
              <a:ahLst/>
              <a:cxnLst/>
              <a:rect l="l" t="t" r="r" b="b"/>
              <a:pathLst>
                <a:path w="1289737" h="1387131">
                  <a:moveTo>
                    <a:pt x="0" y="0"/>
                  </a:moveTo>
                  <a:lnTo>
                    <a:pt x="1289737" y="0"/>
                  </a:lnTo>
                  <a:lnTo>
                    <a:pt x="1289737" y="1387131"/>
                  </a:lnTo>
                  <a:lnTo>
                    <a:pt x="0" y="1387131"/>
                  </a:lnTo>
                  <a:close/>
                </a:path>
              </a:pathLst>
            </a:custGeom>
            <a:blipFill>
              <a:blip/>
              <a:stretch>
                <a:fillRect t="-258" b="-258"/>
              </a:stretch>
            </a:blipFill>
          </p:spPr>
          <p:txBody>
            <a:bodyPr/>
            <a:lstStyle/>
            <a:p>
              <a:endParaRPr lang="ko-KR" altLang="en-US"/>
            </a:p>
          </p:txBody>
        </p:sp>
      </p:grpSp>
      <p:sp>
        <p:nvSpPr>
          <p:cNvPr id="4" name="AutoShape 4"/>
          <p:cNvSpPr/>
          <p:nvPr/>
        </p:nvSpPr>
        <p:spPr>
          <a:xfrm>
            <a:off x="10734675" y="3859206"/>
            <a:ext cx="5448300" cy="0"/>
          </a:xfrm>
          <a:prstGeom prst="line">
            <a:avLst/>
          </a:prstGeom>
          <a:ln w="19050" cap="flat">
            <a:solidFill>
              <a:srgbClr val="F3F3F3"/>
            </a:solidFill>
            <a:prstDash val="solid"/>
            <a:headEnd type="none" w="sm" len="sm"/>
            <a:tailEnd type="none" w="sm" len="sm"/>
          </a:ln>
        </p:spPr>
        <p:txBody>
          <a:bodyPr/>
          <a:lstStyle/>
          <a:p>
            <a:endParaRPr lang="ko-KR" altLang="en-US"/>
          </a:p>
        </p:txBody>
      </p:sp>
      <p:sp>
        <p:nvSpPr>
          <p:cNvPr id="5" name="TextBox 5"/>
          <p:cNvSpPr txBox="1"/>
          <p:nvPr/>
        </p:nvSpPr>
        <p:spPr>
          <a:xfrm>
            <a:off x="10734675" y="4096366"/>
            <a:ext cx="7096125" cy="5330947"/>
          </a:xfrm>
          <a:prstGeom prst="rect">
            <a:avLst/>
          </a:prstGeom>
        </p:spPr>
        <p:txBody>
          <a:bodyPr wrap="square" lIns="0" tIns="0" rIns="0" bIns="0" rtlCol="0" anchor="t">
            <a:spAutoFit/>
          </a:bodyPr>
          <a:lstStyle/>
          <a:p>
            <a:pPr marL="0" lvl="0" indent="0" algn="l">
              <a:lnSpc>
                <a:spcPts val="3779"/>
              </a:lnSpc>
            </a:pPr>
            <a:r>
              <a:rPr lang="en-US" sz="3000" dirty="0">
                <a:solidFill>
                  <a:srgbClr val="F3F3F3"/>
                </a:solidFill>
                <a:latin typeface="TT Interphases"/>
                <a:ea typeface="TT Interphases"/>
                <a:cs typeface="TT Interphases"/>
                <a:sym typeface="TT Interphases"/>
              </a:rPr>
              <a:t>KNN（</a:t>
            </a:r>
            <a:r>
              <a:rPr lang="en-US" sz="3000" u="none" dirty="0">
                <a:solidFill>
                  <a:srgbClr val="F3F3F3"/>
                </a:solidFill>
                <a:latin typeface="TT Interphases"/>
                <a:ea typeface="TT Interphases"/>
                <a:cs typeface="TT Interphases"/>
                <a:sym typeface="TT Interphases"/>
              </a:rPr>
              <a:t>K-Nearest Neighbors)</a:t>
            </a:r>
            <a:r>
              <a:rPr lang="en-US" sz="3000" u="none" dirty="0" err="1">
                <a:solidFill>
                  <a:srgbClr val="F3F3F3"/>
                </a:solidFill>
                <a:latin typeface="TT Interphases"/>
                <a:ea typeface="TT Interphases"/>
                <a:cs typeface="TT Interphases"/>
                <a:sym typeface="TT Interphases"/>
              </a:rPr>
              <a:t>をつかって</a:t>
            </a:r>
            <a:endParaRPr lang="en-US" sz="3000" u="none" dirty="0">
              <a:solidFill>
                <a:srgbClr val="F3F3F3"/>
              </a:solidFill>
              <a:latin typeface="TT Interphases"/>
              <a:ea typeface="TT Interphases"/>
              <a:cs typeface="TT Interphases"/>
              <a:sym typeface="TT Interphases"/>
            </a:endParaRPr>
          </a:p>
          <a:p>
            <a:pPr marL="0" lvl="0" indent="0" algn="l">
              <a:lnSpc>
                <a:spcPts val="3779"/>
              </a:lnSpc>
            </a:pPr>
            <a:r>
              <a:rPr lang="en-US" sz="3000" u="none" dirty="0">
                <a:solidFill>
                  <a:srgbClr val="F3F3F3"/>
                </a:solidFill>
                <a:latin typeface="TT Interphases"/>
                <a:ea typeface="TT Interphases"/>
                <a:cs typeface="TT Interphases"/>
                <a:sym typeface="TT Interphases"/>
              </a:rPr>
              <a:t>韓国および日本の20代大学生が好む</a:t>
            </a:r>
          </a:p>
          <a:p>
            <a:pPr marL="0" lvl="0" indent="0" algn="l">
              <a:lnSpc>
                <a:spcPts val="3779"/>
              </a:lnSpc>
            </a:pPr>
            <a:r>
              <a:rPr lang="en-US" sz="3000" u="none" dirty="0" err="1">
                <a:solidFill>
                  <a:srgbClr val="F3F3F3"/>
                </a:solidFill>
                <a:latin typeface="TT Interphases"/>
                <a:ea typeface="TT Interphases"/>
                <a:cs typeface="TT Interphases"/>
                <a:sym typeface="TT Interphases"/>
              </a:rPr>
              <a:t>ソウルと東京の人気スポットを</a:t>
            </a:r>
            <a:endParaRPr lang="en-US" sz="3000" dirty="0">
              <a:solidFill>
                <a:srgbClr val="F3F3F3"/>
              </a:solidFill>
              <a:latin typeface="TT Interphases"/>
              <a:ea typeface="TT Interphases"/>
              <a:cs typeface="TT Interphases"/>
              <a:sym typeface="TT Interphases"/>
            </a:endParaRPr>
          </a:p>
          <a:p>
            <a:pPr marL="0" lvl="0" indent="0" algn="l">
              <a:lnSpc>
                <a:spcPts val="3779"/>
              </a:lnSpc>
            </a:pPr>
            <a:r>
              <a:rPr lang="en-US" sz="3000" u="none" dirty="0" err="1">
                <a:solidFill>
                  <a:srgbClr val="F3F3F3"/>
                </a:solidFill>
                <a:latin typeface="TT Interphases"/>
                <a:ea typeface="TT Interphases"/>
                <a:cs typeface="TT Interphases"/>
                <a:sym typeface="TT Interphases"/>
              </a:rPr>
              <a:t>分析・可視化した</a:t>
            </a:r>
            <a:endParaRPr lang="en-US" sz="3000" u="none" dirty="0">
              <a:solidFill>
                <a:srgbClr val="F3F3F3"/>
              </a:solidFill>
              <a:latin typeface="TT Interphases"/>
              <a:ea typeface="TT Interphases"/>
              <a:cs typeface="TT Interphases"/>
              <a:sym typeface="TT Interphases"/>
            </a:endParaRPr>
          </a:p>
          <a:p>
            <a:pPr marL="0" lvl="0" indent="0" algn="l">
              <a:lnSpc>
                <a:spcPts val="3779"/>
              </a:lnSpc>
            </a:pPr>
            <a:r>
              <a:rPr lang="en-US" sz="3000" u="none" dirty="0" err="1">
                <a:solidFill>
                  <a:srgbClr val="F3F3F3"/>
                </a:solidFill>
                <a:latin typeface="TT Interphases"/>
                <a:ea typeface="TT Interphases"/>
                <a:cs typeface="TT Interphases"/>
                <a:sym typeface="TT Interphases"/>
              </a:rPr>
              <a:t>データサイエンスプロジェクト</a:t>
            </a:r>
            <a:r>
              <a:rPr lang="en-US" sz="3000" u="none" dirty="0">
                <a:solidFill>
                  <a:srgbClr val="F3F3F3"/>
                </a:solidFill>
                <a:latin typeface="TT Interphases"/>
                <a:ea typeface="TT Interphases"/>
                <a:cs typeface="TT Interphases"/>
                <a:sym typeface="TT Interphases"/>
              </a:rPr>
              <a:t>。</a:t>
            </a:r>
          </a:p>
          <a:p>
            <a:pPr marL="0" lvl="0" indent="0" algn="l">
              <a:lnSpc>
                <a:spcPts val="3779"/>
              </a:lnSpc>
            </a:pPr>
            <a:endParaRPr lang="en-US" sz="3000" u="none" dirty="0">
              <a:solidFill>
                <a:srgbClr val="F3F3F3"/>
              </a:solidFill>
              <a:latin typeface="TT Interphases"/>
              <a:ea typeface="TT Interphases"/>
              <a:cs typeface="TT Interphases"/>
              <a:sym typeface="TT Interphases"/>
            </a:endParaRPr>
          </a:p>
          <a:p>
            <a:pPr marL="0" lvl="0" indent="0" algn="l">
              <a:lnSpc>
                <a:spcPts val="3779"/>
              </a:lnSpc>
            </a:pPr>
            <a:r>
              <a:rPr lang="en-US" sz="3000" u="none" dirty="0" err="1">
                <a:solidFill>
                  <a:srgbClr val="F3F3F3"/>
                </a:solidFill>
                <a:latin typeface="TT Interphases"/>
                <a:ea typeface="TT Interphases"/>
                <a:cs typeface="TT Interphases"/>
                <a:sym typeface="TT Interphases"/>
              </a:rPr>
              <a:t>位置データにGoogle検索量を重みとして組み合わせ</a:t>
            </a:r>
            <a:r>
              <a:rPr lang="en-US" sz="3000" u="none" dirty="0">
                <a:solidFill>
                  <a:srgbClr val="F3F3F3"/>
                </a:solidFill>
                <a:latin typeface="TT Interphases"/>
                <a:ea typeface="TT Interphases"/>
                <a:cs typeface="TT Interphases"/>
                <a:sym typeface="TT Interphases"/>
              </a:rPr>
              <a:t>、</a:t>
            </a:r>
          </a:p>
          <a:p>
            <a:pPr lvl="0">
              <a:lnSpc>
                <a:spcPts val="3779"/>
              </a:lnSpc>
            </a:pPr>
            <a:r>
              <a:rPr lang="en-US" sz="3000" u="none" dirty="0" err="1">
                <a:solidFill>
                  <a:srgbClr val="F3F3F3"/>
                </a:solidFill>
                <a:latin typeface="TT Interphases"/>
                <a:ea typeface="TT Interphases"/>
                <a:cs typeface="TT Interphases"/>
                <a:sym typeface="TT Interphases"/>
              </a:rPr>
              <a:t>性別ごとの心理的な人気マップの構築を目的としてい</a:t>
            </a:r>
            <a:r>
              <a:rPr lang="ja-JP" altLang="en-US" sz="3000">
                <a:solidFill>
                  <a:srgbClr val="F3F3F3"/>
                </a:solidFill>
                <a:latin typeface="TT Interphases"/>
                <a:ea typeface="TT Interphases"/>
                <a:cs typeface="TT Interphases"/>
                <a:sym typeface="TT Interphases"/>
              </a:rPr>
              <a:t>る</a:t>
            </a:r>
            <a:r>
              <a:rPr lang="en-US" sz="3000" u="none" dirty="0">
                <a:solidFill>
                  <a:srgbClr val="F3F3F3"/>
                </a:solidFill>
                <a:latin typeface="TT Interphases"/>
                <a:ea typeface="TT Interphases"/>
                <a:cs typeface="TT Interphases"/>
                <a:sym typeface="TT Interphases"/>
              </a:rPr>
              <a:t>。</a:t>
            </a:r>
          </a:p>
          <a:p>
            <a:pPr marL="0" lvl="0" indent="0" algn="l">
              <a:lnSpc>
                <a:spcPts val="3779"/>
              </a:lnSpc>
            </a:pPr>
            <a:endParaRPr lang="en-US" sz="3000" u="none" dirty="0">
              <a:solidFill>
                <a:srgbClr val="F3F3F3"/>
              </a:solidFill>
              <a:latin typeface="TT Interphases"/>
              <a:ea typeface="TT Interphases"/>
              <a:cs typeface="TT Interphases"/>
              <a:sym typeface="TT Interphases"/>
            </a:endParaRPr>
          </a:p>
        </p:txBody>
      </p:sp>
      <p:sp>
        <p:nvSpPr>
          <p:cNvPr id="6" name="TextBox 6"/>
          <p:cNvSpPr txBox="1"/>
          <p:nvPr/>
        </p:nvSpPr>
        <p:spPr>
          <a:xfrm>
            <a:off x="10734675" y="1190625"/>
            <a:ext cx="6886575" cy="2374270"/>
          </a:xfrm>
          <a:prstGeom prst="rect">
            <a:avLst/>
          </a:prstGeom>
        </p:spPr>
        <p:txBody>
          <a:bodyPr lIns="0" tIns="0" rIns="0" bIns="0" rtlCol="0" anchor="t">
            <a:spAutoFit/>
          </a:bodyPr>
          <a:lstStyle/>
          <a:p>
            <a:pPr marL="0" lvl="0" indent="0" algn="l">
              <a:lnSpc>
                <a:spcPts val="9100"/>
              </a:lnSpc>
            </a:pPr>
            <a:r>
              <a:rPr lang="en-US" sz="9100" spc="-182" dirty="0" err="1">
                <a:solidFill>
                  <a:srgbClr val="FFFFFF"/>
                </a:solidFill>
                <a:latin typeface="TT Ramillas"/>
                <a:ea typeface="TT Ramillas"/>
                <a:cs typeface="TT Ramillas"/>
                <a:sym typeface="TT Ramillas"/>
              </a:rPr>
              <a:t>プロジェクト概要</a:t>
            </a:r>
            <a:endParaRPr lang="en-US" sz="9100" spc="-182" dirty="0">
              <a:solidFill>
                <a:srgbClr val="FFFFFF"/>
              </a:solidFill>
              <a:latin typeface="TT Ramillas"/>
              <a:ea typeface="TT Ramillas"/>
              <a:cs typeface="TT Ramillas"/>
              <a:sym typeface="TT Ramillas"/>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2A6C"/>
        </a:solidFill>
        <a:effectLst/>
      </p:bgPr>
    </p:bg>
    <p:spTree>
      <p:nvGrpSpPr>
        <p:cNvPr id="1" name=""/>
        <p:cNvGrpSpPr/>
        <p:nvPr/>
      </p:nvGrpSpPr>
      <p:grpSpPr>
        <a:xfrm>
          <a:off x="0" y="0"/>
          <a:ext cx="0" cy="0"/>
          <a:chOff x="0" y="0"/>
          <a:chExt cx="0" cy="0"/>
        </a:xfrm>
      </p:grpSpPr>
      <p:grpSp>
        <p:nvGrpSpPr>
          <p:cNvPr id="2" name="Group 2"/>
          <p:cNvGrpSpPr/>
          <p:nvPr/>
        </p:nvGrpSpPr>
        <p:grpSpPr>
          <a:xfrm>
            <a:off x="4440163" y="666750"/>
            <a:ext cx="8976213" cy="8953500"/>
            <a:chOff x="0" y="0"/>
            <a:chExt cx="1390650" cy="1387131"/>
          </a:xfrm>
        </p:grpSpPr>
        <p:sp>
          <p:nvSpPr>
            <p:cNvPr id="3" name="Freeform 3"/>
            <p:cNvSpPr/>
            <p:nvPr/>
          </p:nvSpPr>
          <p:spPr>
            <a:xfrm>
              <a:off x="0" y="0"/>
              <a:ext cx="1390650" cy="1387131"/>
            </a:xfrm>
            <a:custGeom>
              <a:avLst/>
              <a:gdLst/>
              <a:ahLst/>
              <a:cxnLst/>
              <a:rect l="l" t="t" r="r" b="b"/>
              <a:pathLst>
                <a:path w="1390650" h="1387131">
                  <a:moveTo>
                    <a:pt x="0" y="0"/>
                  </a:moveTo>
                  <a:lnTo>
                    <a:pt x="1390650" y="0"/>
                  </a:lnTo>
                  <a:lnTo>
                    <a:pt x="1390650" y="1387131"/>
                  </a:lnTo>
                  <a:lnTo>
                    <a:pt x="0" y="1387131"/>
                  </a:lnTo>
                  <a:close/>
                </a:path>
              </a:pathLst>
            </a:custGeom>
            <a:blipFill>
              <a:blip/>
              <a:stretch>
                <a:fillRect t="-126" b="-126"/>
              </a:stretch>
            </a:blipFill>
          </p:spPr>
          <p:txBody>
            <a:bodyPr/>
            <a:lstStyle/>
            <a:p>
              <a:endParaRPr lang="ko-KR" altLang="en-US"/>
            </a:p>
          </p:txBody>
        </p:sp>
      </p:gr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32F2F"/>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8324850" cy="8953500"/>
            <a:chOff x="0" y="0"/>
            <a:chExt cx="1289737" cy="1387131"/>
          </a:xfrm>
        </p:grpSpPr>
        <p:sp>
          <p:nvSpPr>
            <p:cNvPr id="3" name="Freeform 3"/>
            <p:cNvSpPr/>
            <p:nvPr/>
          </p:nvSpPr>
          <p:spPr>
            <a:xfrm>
              <a:off x="0" y="0"/>
              <a:ext cx="1289737" cy="1387131"/>
            </a:xfrm>
            <a:custGeom>
              <a:avLst/>
              <a:gdLst/>
              <a:ahLst/>
              <a:cxnLst/>
              <a:rect l="l" t="t" r="r" b="b"/>
              <a:pathLst>
                <a:path w="1289737" h="1387131">
                  <a:moveTo>
                    <a:pt x="0" y="0"/>
                  </a:moveTo>
                  <a:lnTo>
                    <a:pt x="1289737" y="0"/>
                  </a:lnTo>
                  <a:lnTo>
                    <a:pt x="1289737" y="1387131"/>
                  </a:lnTo>
                  <a:lnTo>
                    <a:pt x="0" y="1387131"/>
                  </a:lnTo>
                  <a:close/>
                </a:path>
              </a:pathLst>
            </a:custGeom>
            <a:blipFill>
              <a:blip/>
              <a:stretch>
                <a:fillRect t="-258" b="-258"/>
              </a:stretch>
            </a:blipFill>
          </p:spPr>
          <p:txBody>
            <a:bodyPr/>
            <a:lstStyle/>
            <a:p>
              <a:endParaRPr lang="ko-KR" altLang="en-US"/>
            </a:p>
          </p:txBody>
        </p:sp>
      </p:grpSp>
      <p:sp>
        <p:nvSpPr>
          <p:cNvPr id="4" name="AutoShape 4"/>
          <p:cNvSpPr/>
          <p:nvPr/>
        </p:nvSpPr>
        <p:spPr>
          <a:xfrm>
            <a:off x="10644832" y="2088572"/>
            <a:ext cx="5448300" cy="0"/>
          </a:xfrm>
          <a:prstGeom prst="line">
            <a:avLst/>
          </a:prstGeom>
          <a:ln w="19050" cap="flat">
            <a:solidFill>
              <a:srgbClr val="F3F3F3"/>
            </a:solidFill>
            <a:prstDash val="solid"/>
            <a:headEnd type="none" w="sm" len="sm"/>
            <a:tailEnd type="none" w="sm" len="sm"/>
          </a:ln>
        </p:spPr>
        <p:txBody>
          <a:bodyPr/>
          <a:lstStyle/>
          <a:p>
            <a:endParaRPr lang="ko-KR" altLang="en-US"/>
          </a:p>
        </p:txBody>
      </p:sp>
      <p:sp>
        <p:nvSpPr>
          <p:cNvPr id="5" name="TextBox 5"/>
          <p:cNvSpPr txBox="1"/>
          <p:nvPr/>
        </p:nvSpPr>
        <p:spPr>
          <a:xfrm>
            <a:off x="9915525" y="3086100"/>
            <a:ext cx="7343775" cy="5834931"/>
          </a:xfrm>
          <a:prstGeom prst="rect">
            <a:avLst/>
          </a:prstGeom>
        </p:spPr>
        <p:txBody>
          <a:bodyPr lIns="0" tIns="0" rIns="0" bIns="0" rtlCol="0" anchor="t">
            <a:spAutoFit/>
          </a:bodyPr>
          <a:lstStyle/>
          <a:p>
            <a:pPr algn="l">
              <a:lnSpc>
                <a:spcPts val="3499"/>
              </a:lnSpc>
            </a:pPr>
            <a:r>
              <a:rPr lang="en-US" sz="3500" dirty="0" err="1">
                <a:solidFill>
                  <a:srgbClr val="F3F3F3"/>
                </a:solidFill>
                <a:latin typeface="TT Interphases"/>
                <a:ea typeface="TT Interphases"/>
                <a:cs typeface="TT Interphases"/>
                <a:sym typeface="TT Interphases"/>
              </a:rPr>
              <a:t>情報があふれる現代では、旅行者が「どこへ行くべきか」を</a:t>
            </a:r>
            <a:r>
              <a:rPr lang="en-US" sz="3500" dirty="0" err="1">
                <a:solidFill>
                  <a:srgbClr val="F3F3F3"/>
                </a:solidFill>
                <a:latin typeface="MS PMincho" panose="02020600040205080304" pitchFamily="18" charset="-128"/>
                <a:ea typeface="MS PMincho" panose="02020600040205080304" pitchFamily="18" charset="-128"/>
                <a:cs typeface="TT Interphases"/>
                <a:sym typeface="TT Interphases"/>
              </a:rPr>
              <a:t>判断</a:t>
            </a:r>
            <a:r>
              <a:rPr lang="en-US" sz="3500" dirty="0" err="1">
                <a:solidFill>
                  <a:srgbClr val="F3F3F3"/>
                </a:solidFill>
                <a:latin typeface="TT Interphases"/>
                <a:ea typeface="TT Interphases"/>
                <a:cs typeface="TT Interphases"/>
                <a:sym typeface="TT Interphases"/>
              </a:rPr>
              <a:t>することが難しくなっている</a:t>
            </a:r>
            <a:r>
              <a:rPr lang="en-US" sz="3500" dirty="0">
                <a:solidFill>
                  <a:srgbClr val="F3F3F3"/>
                </a:solidFill>
                <a:latin typeface="TT Interphases"/>
                <a:ea typeface="TT Interphases"/>
                <a:cs typeface="TT Interphases"/>
                <a:sym typeface="TT Interphases"/>
              </a:rPr>
              <a:t>。</a:t>
            </a:r>
          </a:p>
          <a:p>
            <a:pPr algn="l">
              <a:lnSpc>
                <a:spcPts val="3499"/>
              </a:lnSpc>
            </a:pPr>
            <a:endParaRPr lang="en-US" sz="3500" dirty="0">
              <a:solidFill>
                <a:srgbClr val="F3F3F3"/>
              </a:solidFill>
              <a:latin typeface="TT Interphases"/>
              <a:ea typeface="TT Interphases"/>
              <a:cs typeface="TT Interphases"/>
              <a:sym typeface="TT Interphases"/>
            </a:endParaRPr>
          </a:p>
          <a:p>
            <a:pPr algn="l">
              <a:lnSpc>
                <a:spcPts val="3499"/>
              </a:lnSpc>
            </a:pPr>
            <a:r>
              <a:rPr lang="en-US" sz="3500" dirty="0">
                <a:solidFill>
                  <a:srgbClr val="F3F3F3"/>
                </a:solidFill>
                <a:latin typeface="TT Interphases"/>
                <a:ea typeface="TT Interphases"/>
                <a:cs typeface="TT Interphases"/>
                <a:sym typeface="TT Interphases"/>
              </a:rPr>
              <a:t>特に多くの既存の地図サービスは、距離順や単純な評価順で情報を提示しており、性別や年齢層といった特定のターゲットにおける実際のトレンドを十分に反映できていない。</a:t>
            </a:r>
          </a:p>
          <a:p>
            <a:pPr algn="l">
              <a:lnSpc>
                <a:spcPts val="3499"/>
              </a:lnSpc>
            </a:pPr>
            <a:endParaRPr lang="en-US" sz="3500" dirty="0">
              <a:solidFill>
                <a:srgbClr val="F3F3F3"/>
              </a:solidFill>
              <a:latin typeface="TT Interphases"/>
              <a:ea typeface="TT Interphases"/>
              <a:cs typeface="TT Interphases"/>
              <a:sym typeface="TT Interphases"/>
            </a:endParaRPr>
          </a:p>
          <a:p>
            <a:pPr marL="0" lvl="0" indent="0" algn="l">
              <a:lnSpc>
                <a:spcPts val="3499"/>
              </a:lnSpc>
            </a:pPr>
            <a:r>
              <a:rPr lang="en-US" sz="3500" dirty="0" err="1">
                <a:solidFill>
                  <a:srgbClr val="F3F3F3"/>
                </a:solidFill>
                <a:latin typeface="TT Interphases"/>
                <a:ea typeface="TT Interphases"/>
                <a:cs typeface="TT Interphases"/>
                <a:sym typeface="TT Interphases"/>
              </a:rPr>
              <a:t>そこで、この課題をデータに基づくパーソナライズされたガイドによって解決できるのではないかと考えた</a:t>
            </a:r>
            <a:endParaRPr lang="en-US" sz="3500" dirty="0">
              <a:solidFill>
                <a:srgbClr val="F3F3F3"/>
              </a:solidFill>
              <a:latin typeface="TT Interphases"/>
              <a:ea typeface="TT Interphases"/>
              <a:cs typeface="TT Interphases"/>
              <a:sym typeface="TT Interphases"/>
            </a:endParaRPr>
          </a:p>
        </p:txBody>
      </p:sp>
      <p:sp>
        <p:nvSpPr>
          <p:cNvPr id="6" name="TextBox 6"/>
          <p:cNvSpPr txBox="1"/>
          <p:nvPr/>
        </p:nvSpPr>
        <p:spPr>
          <a:xfrm>
            <a:off x="9915525" y="763687"/>
            <a:ext cx="7705725" cy="906145"/>
          </a:xfrm>
          <a:prstGeom prst="rect">
            <a:avLst/>
          </a:prstGeom>
        </p:spPr>
        <p:txBody>
          <a:bodyPr lIns="0" tIns="0" rIns="0" bIns="0" rtlCol="0" anchor="t">
            <a:spAutoFit/>
          </a:bodyPr>
          <a:lstStyle/>
          <a:p>
            <a:pPr marL="0" lvl="0" indent="0" algn="l">
              <a:lnSpc>
                <a:spcPts val="6800"/>
              </a:lnSpc>
            </a:pPr>
            <a:r>
              <a:rPr lang="en-US" sz="6800" spc="-136">
                <a:solidFill>
                  <a:srgbClr val="FFFFFF"/>
                </a:solidFill>
                <a:latin typeface="TT Ramillas"/>
                <a:ea typeface="TT Ramillas"/>
                <a:cs typeface="TT Ramillas"/>
                <a:sym typeface="TT Ramillas"/>
              </a:rPr>
              <a:t>問題の定義と必要性</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32F2F"/>
        </a:solidFill>
        <a:effectLst/>
      </p:bgPr>
    </p:bg>
    <p:spTree>
      <p:nvGrpSpPr>
        <p:cNvPr id="1" name="">
          <a:extLst>
            <a:ext uri="{FF2B5EF4-FFF2-40B4-BE49-F238E27FC236}">
              <a16:creationId xmlns:a16="http://schemas.microsoft.com/office/drawing/2014/main" id="{6D49F956-AE52-12DC-6011-6D7A66B147A1}"/>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CF3998F5-ACF6-AF54-DEDF-A27038949098}"/>
              </a:ext>
            </a:extLst>
          </p:cNvPr>
          <p:cNvSpPr txBox="1"/>
          <p:nvPr/>
        </p:nvSpPr>
        <p:spPr>
          <a:xfrm>
            <a:off x="666750" y="815739"/>
            <a:ext cx="17621250" cy="1238801"/>
          </a:xfrm>
          <a:prstGeom prst="rect">
            <a:avLst/>
          </a:prstGeom>
        </p:spPr>
        <p:txBody>
          <a:bodyPr lIns="0" tIns="0" rIns="0" bIns="0" rtlCol="0" anchor="t">
            <a:spAutoFit/>
          </a:bodyPr>
          <a:lstStyle/>
          <a:p>
            <a:pPr lvl="0">
              <a:lnSpc>
                <a:spcPts val="9200"/>
              </a:lnSpc>
              <a:spcBef>
                <a:spcPct val="0"/>
              </a:spcBef>
            </a:pPr>
            <a:r>
              <a:rPr lang="ko-KR" altLang="en-US" sz="9200" spc="-184" dirty="0" err="1">
                <a:solidFill>
                  <a:srgbClr val="FFFFFF"/>
                </a:solidFill>
                <a:latin typeface="TT Ramillas"/>
                <a:ea typeface="TT Ramillas"/>
                <a:cs typeface="TT Ramillas"/>
                <a:sym typeface="TT Ramillas"/>
              </a:rPr>
              <a:t>収集方法</a:t>
            </a:r>
            <a:r>
              <a:rPr lang="ja-JP" altLang="en-US" sz="9200" spc="-184">
                <a:solidFill>
                  <a:srgbClr val="FFFFFF"/>
                </a:solidFill>
                <a:latin typeface="TT Ramillas"/>
                <a:ea typeface="TT Ramillas"/>
                <a:cs typeface="TT Ramillas"/>
                <a:sym typeface="TT Ramillas"/>
              </a:rPr>
              <a:t>およびデータ</a:t>
            </a:r>
            <a:r>
              <a:rPr lang="ko-KR" altLang="en-US" sz="9200" spc="-184">
                <a:solidFill>
                  <a:srgbClr val="FFFFFF"/>
                </a:solidFill>
                <a:latin typeface="TT Ramillas"/>
                <a:ea typeface="TT Ramillas"/>
                <a:cs typeface="TT Ramillas"/>
                <a:sym typeface="TT Ramillas"/>
              </a:rPr>
              <a:t>項目</a:t>
            </a:r>
            <a:endParaRPr lang="en-US" sz="9200" spc="-184" dirty="0">
              <a:solidFill>
                <a:srgbClr val="FFFFFF"/>
              </a:solidFill>
              <a:latin typeface="TT Ramillas"/>
              <a:ea typeface="TT Ramillas"/>
              <a:cs typeface="TT Ramillas"/>
              <a:sym typeface="TT Ramillas"/>
            </a:endParaRPr>
          </a:p>
        </p:txBody>
      </p:sp>
      <p:sp>
        <p:nvSpPr>
          <p:cNvPr id="3" name="TextBox 3">
            <a:extLst>
              <a:ext uri="{FF2B5EF4-FFF2-40B4-BE49-F238E27FC236}">
                <a16:creationId xmlns:a16="http://schemas.microsoft.com/office/drawing/2014/main" id="{0906F740-7F1A-7740-F0A7-BD3F32024A7D}"/>
              </a:ext>
            </a:extLst>
          </p:cNvPr>
          <p:cNvSpPr txBox="1"/>
          <p:nvPr/>
        </p:nvSpPr>
        <p:spPr>
          <a:xfrm>
            <a:off x="666750" y="3314700"/>
            <a:ext cx="16840628" cy="5545942"/>
          </a:xfrm>
          <a:prstGeom prst="rect">
            <a:avLst/>
          </a:prstGeom>
        </p:spPr>
        <p:txBody>
          <a:bodyPr lIns="0" tIns="0" rIns="0" bIns="0" rtlCol="0" anchor="t">
            <a:spAutoFit/>
          </a:bodyPr>
          <a:lstStyle/>
          <a:p>
            <a:pPr lvl="0">
              <a:lnSpc>
                <a:spcPts val="3639"/>
              </a:lnSpc>
              <a:spcBef>
                <a:spcPct val="0"/>
              </a:spcBef>
            </a:pPr>
            <a:r>
              <a:rPr lang="en-US" altLang="ko-KR" sz="3500" spc="139" dirty="0">
                <a:solidFill>
                  <a:srgbClr val="F3F3F3"/>
                </a:solidFill>
                <a:latin typeface="TT Interphases"/>
                <a:ea typeface="TT Interphases"/>
                <a:cs typeface="TT Interphases"/>
                <a:sym typeface="TT Interphases"/>
              </a:rPr>
              <a:t>1. </a:t>
            </a:r>
            <a:r>
              <a:rPr lang="ko-KR" altLang="en-US" sz="3500" spc="139" dirty="0" err="1">
                <a:solidFill>
                  <a:srgbClr val="F3F3F3"/>
                </a:solidFill>
                <a:latin typeface="TT Interphases"/>
                <a:ea typeface="TT Interphases"/>
                <a:cs typeface="TT Interphases"/>
                <a:sym typeface="TT Interphases"/>
              </a:rPr>
              <a:t>調査手法</a:t>
            </a:r>
            <a:r>
              <a:rPr lang="ko-KR" altLang="en-US" sz="3500" spc="139" dirty="0">
                <a:solidFill>
                  <a:srgbClr val="F3F3F3"/>
                </a:solidFill>
                <a:latin typeface="TT Interphases"/>
                <a:ea typeface="TT Interphases"/>
                <a:cs typeface="TT Interphases"/>
                <a:sym typeface="TT Interphases"/>
              </a:rPr>
              <a:t> </a:t>
            </a:r>
            <a:endParaRPr lang="en-US" altLang="ko-KR" sz="3500" spc="139" dirty="0">
              <a:solidFill>
                <a:srgbClr val="F3F3F3"/>
              </a:solidFill>
              <a:latin typeface="TT Interphases"/>
              <a:ea typeface="TT Interphases"/>
              <a:cs typeface="TT Interphases"/>
              <a:sym typeface="TT Interphases"/>
            </a:endParaRPr>
          </a:p>
          <a:p>
            <a:pPr lvl="0">
              <a:lnSpc>
                <a:spcPts val="3639"/>
              </a:lnSpc>
              <a:spcBef>
                <a:spcPct val="0"/>
              </a:spcBef>
            </a:pPr>
            <a:endParaRPr lang="en-US" altLang="ko-KR" sz="3500" spc="139" dirty="0">
              <a:solidFill>
                <a:srgbClr val="F3F3F3"/>
              </a:solidFill>
              <a:latin typeface="TT Interphases"/>
              <a:ea typeface="TT Interphases"/>
              <a:cs typeface="TT Interphases"/>
              <a:sym typeface="TT Interphases"/>
            </a:endParaRPr>
          </a:p>
          <a:p>
            <a:pPr lvl="0">
              <a:lnSpc>
                <a:spcPts val="3639"/>
              </a:lnSpc>
              <a:spcBef>
                <a:spcPct val="0"/>
              </a:spcBef>
            </a:pPr>
            <a:r>
              <a:rPr lang="ko-KR" altLang="en-US" sz="3500" spc="139" dirty="0" err="1">
                <a:solidFill>
                  <a:srgbClr val="F3F3F3"/>
                </a:solidFill>
                <a:latin typeface="TT Interphases"/>
                <a:ea typeface="TT Interphases"/>
                <a:cs typeface="TT Interphases"/>
                <a:sym typeface="TT Interphases"/>
              </a:rPr>
              <a:t>調査</a:t>
            </a:r>
            <a:r>
              <a:rPr lang="ja-JP" altLang="en-US" sz="3500" spc="139">
                <a:solidFill>
                  <a:srgbClr val="F3F3F3"/>
                </a:solidFill>
                <a:latin typeface="TT Interphases"/>
                <a:ea typeface="TT Interphases"/>
                <a:cs typeface="TT Interphases"/>
                <a:sym typeface="TT Interphases"/>
              </a:rPr>
              <a:t>ツール</a:t>
            </a:r>
            <a:r>
              <a:rPr lang="en-US" altLang="ja-JP" sz="3500" spc="139" dirty="0">
                <a:solidFill>
                  <a:srgbClr val="F3F3F3"/>
                </a:solidFill>
                <a:latin typeface="TT Interphases"/>
                <a:ea typeface="TT Interphases"/>
                <a:cs typeface="TT Interphases"/>
                <a:sym typeface="TT Interphases"/>
              </a:rPr>
              <a:t>: </a:t>
            </a:r>
            <a:r>
              <a:rPr lang="en-US" sz="3500" spc="139" dirty="0">
                <a:solidFill>
                  <a:srgbClr val="F3F3F3"/>
                </a:solidFill>
                <a:latin typeface="TT Interphases"/>
                <a:ea typeface="TT Interphases"/>
                <a:cs typeface="TT Interphases"/>
                <a:sym typeface="TT Interphases"/>
              </a:rPr>
              <a:t>Google</a:t>
            </a:r>
            <a:r>
              <a:rPr lang="ja-JP" altLang="en-US" sz="3500" spc="139">
                <a:solidFill>
                  <a:srgbClr val="F3F3F3"/>
                </a:solidFill>
                <a:latin typeface="TT Interphases"/>
                <a:ea typeface="TT Interphases"/>
                <a:cs typeface="TT Interphases"/>
                <a:sym typeface="TT Interphases"/>
              </a:rPr>
              <a:t>フォーム </a:t>
            </a:r>
            <a:endParaRPr lang="en-US" altLang="ko-KR" sz="3500" spc="139" dirty="0">
              <a:solidFill>
                <a:srgbClr val="F3F3F3"/>
              </a:solidFill>
              <a:latin typeface="TT Interphases"/>
              <a:ea typeface="TT Interphases"/>
              <a:cs typeface="TT Interphases"/>
              <a:sym typeface="TT Interphases"/>
            </a:endParaRPr>
          </a:p>
          <a:p>
            <a:pPr lvl="0">
              <a:lnSpc>
                <a:spcPts val="3639"/>
              </a:lnSpc>
              <a:spcBef>
                <a:spcPct val="0"/>
              </a:spcBef>
            </a:pPr>
            <a:r>
              <a:rPr lang="ko-KR" altLang="en-US" sz="3500" spc="139" dirty="0" err="1">
                <a:solidFill>
                  <a:srgbClr val="F3F3F3"/>
                </a:solidFill>
                <a:latin typeface="TT Interphases"/>
                <a:ea typeface="TT Interphases"/>
                <a:cs typeface="TT Interphases"/>
                <a:sym typeface="TT Interphases"/>
              </a:rPr>
              <a:t>調査対象</a:t>
            </a:r>
            <a:r>
              <a:rPr lang="en-US" altLang="ko-KR" sz="3500" spc="139" dirty="0">
                <a:solidFill>
                  <a:srgbClr val="F3F3F3"/>
                </a:solidFill>
                <a:latin typeface="TT Interphases"/>
                <a:ea typeface="TT Interphases"/>
                <a:cs typeface="TT Interphases"/>
                <a:sym typeface="TT Interphases"/>
              </a:rPr>
              <a:t>: </a:t>
            </a:r>
            <a:r>
              <a:rPr lang="ko-KR" altLang="en-US" sz="3500" spc="139" dirty="0" err="1">
                <a:solidFill>
                  <a:srgbClr val="F3F3F3"/>
                </a:solidFill>
                <a:latin typeface="TT Interphases"/>
                <a:ea typeface="TT Interphases"/>
                <a:cs typeface="TT Interphases"/>
                <a:sym typeface="TT Interphases"/>
              </a:rPr>
              <a:t>韓国</a:t>
            </a:r>
            <a:r>
              <a:rPr lang="en-US" altLang="ko-KR" sz="3500" spc="139" dirty="0">
                <a:solidFill>
                  <a:srgbClr val="F3F3F3"/>
                </a:solidFill>
                <a:latin typeface="TT Interphases"/>
                <a:ea typeface="TT Interphases"/>
                <a:cs typeface="TT Interphases"/>
                <a:sym typeface="TT Interphases"/>
              </a:rPr>
              <a:t>,</a:t>
            </a:r>
            <a:r>
              <a:rPr lang="ko-KR" altLang="en-US" sz="3500" spc="139" dirty="0">
                <a:solidFill>
                  <a:srgbClr val="F3F3F3"/>
                </a:solidFill>
                <a:latin typeface="TT Interphases"/>
                <a:ea typeface="TT Interphases"/>
                <a:cs typeface="TT Interphases"/>
                <a:sym typeface="TT Interphases"/>
              </a:rPr>
              <a:t> </a:t>
            </a:r>
            <a:r>
              <a:rPr lang="ko-KR" altLang="en-US" sz="3500" spc="139" dirty="0" err="1">
                <a:solidFill>
                  <a:srgbClr val="F3F3F3"/>
                </a:solidFill>
                <a:latin typeface="TT Interphases"/>
                <a:ea typeface="TT Interphases"/>
                <a:cs typeface="TT Interphases"/>
                <a:sym typeface="TT Interphases"/>
              </a:rPr>
              <a:t>日本の</a:t>
            </a:r>
            <a:r>
              <a:rPr lang="ko-KR" altLang="en-US" sz="3500" spc="139" dirty="0">
                <a:solidFill>
                  <a:srgbClr val="F3F3F3"/>
                </a:solidFill>
                <a:latin typeface="TT Interphases"/>
                <a:ea typeface="TT Interphases"/>
                <a:cs typeface="TT Interphases"/>
                <a:sym typeface="TT Interphases"/>
              </a:rPr>
              <a:t> </a:t>
            </a:r>
            <a:r>
              <a:rPr lang="en-US" altLang="ko-KR" sz="3500" spc="139" dirty="0">
                <a:solidFill>
                  <a:srgbClr val="F3F3F3"/>
                </a:solidFill>
                <a:latin typeface="TT Interphases"/>
                <a:ea typeface="TT Interphases"/>
                <a:cs typeface="TT Interphases"/>
                <a:sym typeface="TT Interphases"/>
              </a:rPr>
              <a:t>20</a:t>
            </a:r>
            <a:r>
              <a:rPr lang="ko-KR" altLang="en-US" sz="3500" spc="139" dirty="0" err="1">
                <a:solidFill>
                  <a:srgbClr val="F3F3F3"/>
                </a:solidFill>
                <a:latin typeface="TT Interphases"/>
                <a:ea typeface="TT Interphases"/>
                <a:cs typeface="TT Interphases"/>
                <a:sym typeface="TT Interphases"/>
              </a:rPr>
              <a:t>代</a:t>
            </a:r>
            <a:r>
              <a:rPr lang="ko-KR" altLang="en-US" sz="3500" spc="139" dirty="0">
                <a:solidFill>
                  <a:srgbClr val="F3F3F3"/>
                </a:solidFill>
                <a:latin typeface="TT Interphases"/>
                <a:ea typeface="TT Interphases"/>
                <a:cs typeface="TT Interphases"/>
                <a:sym typeface="TT Interphases"/>
              </a:rPr>
              <a:t> </a:t>
            </a:r>
            <a:r>
              <a:rPr lang="ko-KR" altLang="en-US" sz="3500" spc="139" dirty="0" err="1">
                <a:solidFill>
                  <a:srgbClr val="F3F3F3"/>
                </a:solidFill>
                <a:latin typeface="TT Interphases"/>
                <a:ea typeface="TT Interphases"/>
                <a:cs typeface="TT Interphases"/>
                <a:sym typeface="TT Interphases"/>
              </a:rPr>
              <a:t>大学生</a:t>
            </a:r>
            <a:endParaRPr lang="ko-KR" altLang="en-US" sz="3500" spc="139" dirty="0">
              <a:solidFill>
                <a:srgbClr val="F3F3F3"/>
              </a:solidFill>
              <a:latin typeface="TT Interphases"/>
              <a:ea typeface="TT Interphases"/>
              <a:cs typeface="TT Interphases"/>
              <a:sym typeface="TT Interphases"/>
            </a:endParaRPr>
          </a:p>
          <a:p>
            <a:pPr lvl="0">
              <a:lnSpc>
                <a:spcPts val="3639"/>
              </a:lnSpc>
              <a:spcBef>
                <a:spcPct val="0"/>
              </a:spcBef>
            </a:pPr>
            <a:r>
              <a:rPr lang="ko-KR" altLang="en-US" sz="3500" spc="139" dirty="0" err="1">
                <a:solidFill>
                  <a:srgbClr val="F3F3F3"/>
                </a:solidFill>
                <a:latin typeface="TT Interphases"/>
                <a:ea typeface="TT Interphases"/>
                <a:cs typeface="TT Interphases"/>
                <a:sym typeface="TT Interphases"/>
              </a:rPr>
              <a:t>調査形式</a:t>
            </a:r>
            <a:r>
              <a:rPr lang="en-US" altLang="ko-KR" sz="3500" spc="139" dirty="0">
                <a:solidFill>
                  <a:srgbClr val="F3F3F3"/>
                </a:solidFill>
                <a:latin typeface="TT Interphases"/>
                <a:ea typeface="TT Interphases"/>
                <a:cs typeface="TT Interphases"/>
                <a:sym typeface="TT Interphases"/>
              </a:rPr>
              <a:t>: </a:t>
            </a:r>
            <a:r>
              <a:rPr lang="ja-JP" altLang="en-US" sz="3500" spc="139">
                <a:solidFill>
                  <a:srgbClr val="F3F3F3"/>
                </a:solidFill>
                <a:latin typeface="TT Interphases"/>
                <a:ea typeface="TT Interphases"/>
                <a:cs typeface="TT Interphases"/>
                <a:sym typeface="TT Interphases"/>
              </a:rPr>
              <a:t>リアルタイム・アンケート</a:t>
            </a:r>
            <a:r>
              <a:rPr lang="ko-KR" altLang="en-US" sz="3500" spc="139">
                <a:solidFill>
                  <a:srgbClr val="F3F3F3"/>
                </a:solidFill>
                <a:latin typeface="TT Interphases"/>
                <a:ea typeface="TT Interphases"/>
                <a:cs typeface="TT Interphases"/>
                <a:sym typeface="TT Interphases"/>
              </a:rPr>
              <a:t>調査 </a:t>
            </a:r>
            <a:endParaRPr lang="en-US" altLang="ko-KR" sz="3500" spc="139" dirty="0">
              <a:solidFill>
                <a:srgbClr val="F3F3F3"/>
              </a:solidFill>
              <a:latin typeface="TT Interphases"/>
              <a:ea typeface="TT Interphases"/>
              <a:cs typeface="TT Interphases"/>
              <a:sym typeface="TT Interphases"/>
            </a:endParaRPr>
          </a:p>
          <a:p>
            <a:pPr lvl="0">
              <a:lnSpc>
                <a:spcPts val="3639"/>
              </a:lnSpc>
              <a:spcBef>
                <a:spcPct val="0"/>
              </a:spcBef>
            </a:pPr>
            <a:endParaRPr lang="en-US" altLang="ko-KR" sz="3500" spc="139" dirty="0">
              <a:solidFill>
                <a:srgbClr val="F3F3F3"/>
              </a:solidFill>
              <a:latin typeface="TT Interphases"/>
              <a:ea typeface="TT Interphases"/>
              <a:cs typeface="TT Interphases"/>
              <a:sym typeface="TT Interphases"/>
            </a:endParaRPr>
          </a:p>
          <a:p>
            <a:pPr lvl="0">
              <a:lnSpc>
                <a:spcPts val="3639"/>
              </a:lnSpc>
              <a:spcBef>
                <a:spcPct val="0"/>
              </a:spcBef>
            </a:pPr>
            <a:r>
              <a:rPr lang="en-US" altLang="ko-KR" sz="3500" spc="139" dirty="0">
                <a:solidFill>
                  <a:srgbClr val="F3F3F3"/>
                </a:solidFill>
                <a:latin typeface="TT Interphases"/>
                <a:ea typeface="TT Interphases"/>
                <a:cs typeface="TT Interphases"/>
                <a:sym typeface="TT Interphases"/>
              </a:rPr>
              <a:t>2. </a:t>
            </a:r>
            <a:r>
              <a:rPr lang="ko-KR" altLang="en-US" sz="3500" spc="139" dirty="0" err="1">
                <a:solidFill>
                  <a:srgbClr val="F3F3F3"/>
                </a:solidFill>
                <a:latin typeface="TT Interphases"/>
                <a:ea typeface="TT Interphases"/>
                <a:cs typeface="TT Interphases"/>
                <a:sym typeface="TT Interphases"/>
              </a:rPr>
              <a:t>収集</a:t>
            </a:r>
            <a:r>
              <a:rPr lang="ja-JP" altLang="en-US" sz="3500" spc="139">
                <a:solidFill>
                  <a:srgbClr val="F3F3F3"/>
                </a:solidFill>
                <a:latin typeface="TT Interphases"/>
                <a:ea typeface="TT Interphases"/>
                <a:cs typeface="TT Interphases"/>
                <a:sym typeface="TT Interphases"/>
              </a:rPr>
              <a:t>データ</a:t>
            </a:r>
            <a:r>
              <a:rPr lang="ko-KR" altLang="en-US" sz="3500" spc="139">
                <a:solidFill>
                  <a:srgbClr val="F3F3F3"/>
                </a:solidFill>
                <a:latin typeface="TT Interphases"/>
                <a:ea typeface="TT Interphases"/>
                <a:cs typeface="TT Interphases"/>
                <a:sym typeface="TT Interphases"/>
              </a:rPr>
              <a:t>項目 </a:t>
            </a:r>
            <a:endParaRPr lang="en-US" altLang="ko-KR" sz="3500" spc="139" dirty="0">
              <a:solidFill>
                <a:srgbClr val="F3F3F3"/>
              </a:solidFill>
              <a:latin typeface="TT Interphases"/>
              <a:ea typeface="TT Interphases"/>
              <a:cs typeface="TT Interphases"/>
              <a:sym typeface="TT Interphases"/>
            </a:endParaRPr>
          </a:p>
          <a:p>
            <a:pPr lvl="0">
              <a:lnSpc>
                <a:spcPts val="3639"/>
              </a:lnSpc>
              <a:spcBef>
                <a:spcPct val="0"/>
              </a:spcBef>
            </a:pPr>
            <a:endParaRPr lang="en-US" altLang="ko-KR" sz="3500" spc="139" dirty="0">
              <a:solidFill>
                <a:srgbClr val="F3F3F3"/>
              </a:solidFill>
              <a:latin typeface="TT Interphases"/>
              <a:ea typeface="TT Interphases"/>
              <a:cs typeface="TT Interphases"/>
              <a:sym typeface="TT Interphases"/>
            </a:endParaRPr>
          </a:p>
          <a:p>
            <a:pPr lvl="0">
              <a:lnSpc>
                <a:spcPts val="3639"/>
              </a:lnSpc>
              <a:spcBef>
                <a:spcPct val="0"/>
              </a:spcBef>
            </a:pPr>
            <a:r>
              <a:rPr lang="ko-KR" altLang="en-US" sz="3500" spc="139" dirty="0" err="1">
                <a:solidFill>
                  <a:srgbClr val="F3F3F3"/>
                </a:solidFill>
                <a:latin typeface="TT Interphases"/>
                <a:ea typeface="TT Interphases"/>
                <a:cs typeface="TT Interphases"/>
                <a:sym typeface="TT Interphases"/>
              </a:rPr>
              <a:t>国籍</a:t>
            </a:r>
            <a:r>
              <a:rPr lang="ko-KR" altLang="en-US" sz="3500" spc="139" dirty="0">
                <a:solidFill>
                  <a:srgbClr val="F3F3F3"/>
                </a:solidFill>
                <a:latin typeface="TT Interphases"/>
                <a:ea typeface="TT Interphases"/>
                <a:cs typeface="TT Interphases"/>
                <a:sym typeface="TT Interphases"/>
              </a:rPr>
              <a:t> 、</a:t>
            </a:r>
            <a:r>
              <a:rPr lang="ko-KR" altLang="en-US" sz="3500" spc="139" dirty="0" err="1">
                <a:solidFill>
                  <a:srgbClr val="F3F3F3"/>
                </a:solidFill>
                <a:latin typeface="TT Interphases"/>
                <a:ea typeface="TT Interphases"/>
                <a:cs typeface="TT Interphases"/>
                <a:sym typeface="TT Interphases"/>
              </a:rPr>
              <a:t>性別</a:t>
            </a:r>
            <a:endParaRPr lang="en-US" altLang="ko-KR" sz="3500" spc="139" dirty="0">
              <a:solidFill>
                <a:srgbClr val="F3F3F3"/>
              </a:solidFill>
              <a:latin typeface="TT Interphases"/>
              <a:ea typeface="TT Interphases"/>
              <a:cs typeface="TT Interphases"/>
              <a:sym typeface="TT Interphases"/>
            </a:endParaRPr>
          </a:p>
          <a:p>
            <a:pPr lvl="0">
              <a:lnSpc>
                <a:spcPts val="3639"/>
              </a:lnSpc>
              <a:spcBef>
                <a:spcPct val="0"/>
              </a:spcBef>
            </a:pPr>
            <a:r>
              <a:rPr lang="ko-KR" altLang="en-US" sz="3500" spc="139" dirty="0" err="1">
                <a:solidFill>
                  <a:srgbClr val="F3F3F3"/>
                </a:solidFill>
                <a:latin typeface="TT Interphases"/>
                <a:ea typeface="TT Interphases"/>
                <a:cs typeface="TT Interphases"/>
                <a:sym typeface="TT Interphases"/>
              </a:rPr>
              <a:t>東京：推奨</a:t>
            </a:r>
            <a:r>
              <a:rPr lang="ja-JP" altLang="en-US" sz="3500" spc="139">
                <a:solidFill>
                  <a:srgbClr val="F3F3F3"/>
                </a:solidFill>
                <a:latin typeface="TT Interphases"/>
                <a:ea typeface="TT Interphases"/>
                <a:cs typeface="TT Interphases"/>
                <a:sym typeface="TT Interphases"/>
              </a:rPr>
              <a:t>スポット </a:t>
            </a:r>
            <a:r>
              <a:rPr lang="en-US" altLang="ja-JP" sz="3500" spc="139" dirty="0">
                <a:solidFill>
                  <a:srgbClr val="F3F3F3"/>
                </a:solidFill>
                <a:latin typeface="TT Interphases"/>
                <a:ea typeface="TT Interphases"/>
                <a:cs typeface="TT Interphases"/>
                <a:sym typeface="TT Interphases"/>
              </a:rPr>
              <a:t>1</a:t>
            </a:r>
            <a:r>
              <a:rPr lang="ko-KR" altLang="en-US" sz="3500" spc="139" dirty="0" err="1">
                <a:solidFill>
                  <a:srgbClr val="F3F3F3"/>
                </a:solidFill>
                <a:latin typeface="TT Interphases"/>
                <a:ea typeface="TT Interphases"/>
                <a:cs typeface="TT Interphases"/>
                <a:sym typeface="TT Interphases"/>
              </a:rPr>
              <a:t>位</a:t>
            </a:r>
            <a:r>
              <a:rPr lang="ko-KR" altLang="en-US" sz="3500" spc="139" dirty="0">
                <a:solidFill>
                  <a:srgbClr val="F3F3F3"/>
                </a:solidFill>
                <a:latin typeface="TT Interphases"/>
                <a:ea typeface="TT Interphases"/>
                <a:cs typeface="TT Interphases"/>
                <a:sym typeface="TT Interphases"/>
              </a:rPr>
              <a:t>・</a:t>
            </a:r>
            <a:r>
              <a:rPr lang="en-US" altLang="ko-KR" sz="3500" spc="139" dirty="0">
                <a:solidFill>
                  <a:srgbClr val="F3F3F3"/>
                </a:solidFill>
                <a:latin typeface="TT Interphases"/>
                <a:ea typeface="TT Interphases"/>
                <a:cs typeface="TT Interphases"/>
                <a:sym typeface="TT Interphases"/>
              </a:rPr>
              <a:t>2</a:t>
            </a:r>
            <a:r>
              <a:rPr lang="ko-KR" altLang="en-US" sz="3500" spc="139" dirty="0" err="1">
                <a:solidFill>
                  <a:srgbClr val="F3F3F3"/>
                </a:solidFill>
                <a:latin typeface="TT Interphases"/>
                <a:ea typeface="TT Interphases"/>
                <a:cs typeface="TT Interphases"/>
                <a:sym typeface="TT Interphases"/>
              </a:rPr>
              <a:t>位</a:t>
            </a:r>
            <a:r>
              <a:rPr lang="ko-KR" altLang="en-US" sz="3500" spc="139" dirty="0">
                <a:solidFill>
                  <a:srgbClr val="F3F3F3"/>
                </a:solidFill>
                <a:latin typeface="TT Interphases"/>
                <a:ea typeface="TT Interphases"/>
                <a:cs typeface="TT Interphases"/>
                <a:sym typeface="TT Interphases"/>
              </a:rPr>
              <a:t> 、</a:t>
            </a:r>
            <a:r>
              <a:rPr lang="ko-KR" altLang="en-US" sz="3500" spc="139" dirty="0" err="1">
                <a:solidFill>
                  <a:srgbClr val="F3F3F3"/>
                </a:solidFill>
                <a:latin typeface="TT Interphases"/>
                <a:ea typeface="TT Interphases"/>
                <a:cs typeface="TT Interphases"/>
                <a:sym typeface="TT Interphases"/>
              </a:rPr>
              <a:t>選択理由</a:t>
            </a:r>
            <a:r>
              <a:rPr lang="ja-JP" altLang="en-US" sz="3500" spc="139">
                <a:solidFill>
                  <a:srgbClr val="F3F3F3"/>
                </a:solidFill>
                <a:latin typeface="TT Interphases"/>
                <a:ea typeface="TT Interphases"/>
                <a:cs typeface="TT Interphases"/>
                <a:sym typeface="TT Interphases"/>
              </a:rPr>
              <a:t>をハッシュタグで </a:t>
            </a:r>
            <a:r>
              <a:rPr lang="en-US" altLang="ko-KR" sz="3500" spc="139" dirty="0">
                <a:solidFill>
                  <a:srgbClr val="F3F3F3"/>
                </a:solidFill>
                <a:latin typeface="TT Interphases"/>
                <a:ea typeface="TT Interphases"/>
                <a:cs typeface="TT Interphases"/>
                <a:sym typeface="TT Interphases"/>
              </a:rPr>
              <a:t>)</a:t>
            </a:r>
          </a:p>
          <a:p>
            <a:pPr lvl="0">
              <a:lnSpc>
                <a:spcPts val="3639"/>
              </a:lnSpc>
              <a:spcBef>
                <a:spcPct val="0"/>
              </a:spcBef>
            </a:pPr>
            <a:endParaRPr lang="en-US" altLang="ko-KR" sz="3500" spc="139" dirty="0">
              <a:solidFill>
                <a:srgbClr val="F3F3F3"/>
              </a:solidFill>
              <a:latin typeface="TT Interphases"/>
              <a:ea typeface="TT Interphases"/>
              <a:cs typeface="TT Interphases"/>
              <a:sym typeface="TT Interphases"/>
            </a:endParaRPr>
          </a:p>
          <a:p>
            <a:pPr lvl="0">
              <a:lnSpc>
                <a:spcPts val="3639"/>
              </a:lnSpc>
              <a:spcBef>
                <a:spcPct val="0"/>
              </a:spcBef>
            </a:pPr>
            <a:r>
              <a:rPr lang="ja-JP" altLang="en-US" sz="3500" spc="139">
                <a:solidFill>
                  <a:srgbClr val="F3F3F3"/>
                </a:solidFill>
                <a:latin typeface="TT Interphases"/>
                <a:ea typeface="TT Interphases"/>
                <a:cs typeface="TT Interphases"/>
                <a:sym typeface="TT Interphases"/>
              </a:rPr>
              <a:t>ソウル：</a:t>
            </a:r>
            <a:r>
              <a:rPr lang="ko-KR" altLang="en-US" sz="3500" spc="139">
                <a:solidFill>
                  <a:srgbClr val="F3F3F3"/>
                </a:solidFill>
                <a:latin typeface="TT Interphases"/>
                <a:ea typeface="TT Interphases"/>
                <a:cs typeface="TT Interphases"/>
                <a:sym typeface="TT Interphases"/>
              </a:rPr>
              <a:t>推奨</a:t>
            </a:r>
            <a:r>
              <a:rPr lang="ja-JP" altLang="en-US" sz="3500" spc="139">
                <a:solidFill>
                  <a:srgbClr val="F3F3F3"/>
                </a:solidFill>
                <a:latin typeface="TT Interphases"/>
                <a:ea typeface="TT Interphases"/>
                <a:cs typeface="TT Interphases"/>
                <a:sym typeface="TT Interphases"/>
              </a:rPr>
              <a:t>スポット </a:t>
            </a:r>
            <a:r>
              <a:rPr lang="en-US" altLang="ja-JP" sz="3500" spc="139" dirty="0">
                <a:solidFill>
                  <a:srgbClr val="F3F3F3"/>
                </a:solidFill>
                <a:latin typeface="TT Interphases"/>
                <a:ea typeface="TT Interphases"/>
                <a:cs typeface="TT Interphases"/>
                <a:sym typeface="TT Interphases"/>
              </a:rPr>
              <a:t>1</a:t>
            </a:r>
            <a:r>
              <a:rPr lang="ko-KR" altLang="en-US" sz="3500" spc="139" dirty="0" err="1">
                <a:solidFill>
                  <a:srgbClr val="F3F3F3"/>
                </a:solidFill>
                <a:latin typeface="TT Interphases"/>
                <a:ea typeface="TT Interphases"/>
                <a:cs typeface="TT Interphases"/>
                <a:sym typeface="TT Interphases"/>
              </a:rPr>
              <a:t>位</a:t>
            </a:r>
            <a:r>
              <a:rPr lang="ko-KR" altLang="en-US" sz="3500" spc="139" dirty="0">
                <a:solidFill>
                  <a:srgbClr val="F3F3F3"/>
                </a:solidFill>
                <a:latin typeface="TT Interphases"/>
                <a:ea typeface="TT Interphases"/>
                <a:cs typeface="TT Interphases"/>
                <a:sym typeface="TT Interphases"/>
              </a:rPr>
              <a:t>・</a:t>
            </a:r>
            <a:r>
              <a:rPr lang="en-US" altLang="ko-KR" sz="3500" spc="139" dirty="0">
                <a:solidFill>
                  <a:srgbClr val="F3F3F3"/>
                </a:solidFill>
                <a:latin typeface="TT Interphases"/>
                <a:ea typeface="TT Interphases"/>
                <a:cs typeface="TT Interphases"/>
                <a:sym typeface="TT Interphases"/>
              </a:rPr>
              <a:t>2</a:t>
            </a:r>
            <a:r>
              <a:rPr lang="ko-KR" altLang="en-US" sz="3500" spc="139" dirty="0">
                <a:solidFill>
                  <a:srgbClr val="F3F3F3"/>
                </a:solidFill>
                <a:latin typeface="TT Interphases"/>
                <a:ea typeface="TT Interphases"/>
                <a:cs typeface="TT Interphases"/>
                <a:sym typeface="TT Interphases"/>
              </a:rPr>
              <a:t> </a:t>
            </a:r>
            <a:r>
              <a:rPr lang="ko-KR" altLang="en-US" sz="3500" spc="139" dirty="0" err="1">
                <a:solidFill>
                  <a:srgbClr val="F3F3F3"/>
                </a:solidFill>
                <a:latin typeface="TT Interphases"/>
                <a:ea typeface="TT Interphases"/>
                <a:cs typeface="TT Interphases"/>
                <a:sym typeface="TT Interphases"/>
              </a:rPr>
              <a:t>位</a:t>
            </a:r>
            <a:r>
              <a:rPr lang="ko-KR" altLang="en-US" sz="3500" spc="139" dirty="0">
                <a:solidFill>
                  <a:srgbClr val="F3F3F3"/>
                </a:solidFill>
                <a:latin typeface="TT Interphases"/>
                <a:ea typeface="TT Interphases"/>
                <a:cs typeface="TT Interphases"/>
                <a:sym typeface="TT Interphases"/>
              </a:rPr>
              <a:t> </a:t>
            </a:r>
            <a:r>
              <a:rPr lang="ja-JP" altLang="en-US" sz="3500" spc="139">
                <a:solidFill>
                  <a:srgbClr val="F3F3F3"/>
                </a:solidFill>
                <a:latin typeface="TT Interphases"/>
                <a:ea typeface="TT Interphases"/>
                <a:cs typeface="TT Interphases"/>
                <a:sym typeface="TT Interphases"/>
              </a:rPr>
              <a:t>、</a:t>
            </a:r>
            <a:r>
              <a:rPr lang="ko-KR" altLang="en-US" sz="3500" spc="139">
                <a:solidFill>
                  <a:srgbClr val="F3F3F3"/>
                </a:solidFill>
                <a:latin typeface="TT Interphases"/>
                <a:ea typeface="TT Interphases"/>
                <a:cs typeface="TT Interphases"/>
                <a:sym typeface="TT Interphases"/>
              </a:rPr>
              <a:t>選択理由</a:t>
            </a:r>
            <a:r>
              <a:rPr lang="ja-JP" altLang="en-US" sz="3500" spc="139">
                <a:solidFill>
                  <a:srgbClr val="F3F3F3"/>
                </a:solidFill>
                <a:latin typeface="TT Interphases"/>
                <a:ea typeface="TT Interphases"/>
                <a:cs typeface="TT Interphases"/>
                <a:sym typeface="TT Interphases"/>
              </a:rPr>
              <a:t>をハッシュタグで </a:t>
            </a:r>
            <a:endParaRPr lang="en-US" sz="3500" spc="139" dirty="0">
              <a:solidFill>
                <a:srgbClr val="F3F3F3"/>
              </a:solidFill>
              <a:latin typeface="TT Interphases"/>
              <a:ea typeface="TT Interphases"/>
              <a:cs typeface="TT Interphases"/>
              <a:sym typeface="TT Interphases"/>
            </a:endParaRPr>
          </a:p>
        </p:txBody>
      </p:sp>
      <p:pic>
        <p:nvPicPr>
          <p:cNvPr id="9" name="그림 8">
            <a:extLst>
              <a:ext uri="{FF2B5EF4-FFF2-40B4-BE49-F238E27FC236}">
                <a16:creationId xmlns:a16="http://schemas.microsoft.com/office/drawing/2014/main" id="{09D11204-E49D-81B6-26F8-0492F94B7CD7}"/>
              </a:ext>
            </a:extLst>
          </p:cNvPr>
          <p:cNvPicPr>
            <a:picLocks noChangeAspect="1"/>
          </p:cNvPicPr>
          <p:nvPr/>
        </p:nvPicPr>
        <p:blipFill>
          <a:blip/>
          <a:stretch>
            <a:fillRect/>
          </a:stretch>
        </p:blipFill>
        <p:spPr>
          <a:xfrm>
            <a:off x="723686" y="2114581"/>
            <a:ext cx="17144386" cy="585418"/>
          </a:xfrm>
          <a:prstGeom prst="rect">
            <a:avLst/>
          </a:prstGeom>
        </p:spPr>
      </p:pic>
    </p:spTree>
    <p:extLst>
      <p:ext uri="{BB962C8B-B14F-4D97-AF65-F5344CB8AC3E}">
        <p14:creationId xmlns:p14="http://schemas.microsoft.com/office/powerpoint/2010/main" val="378220986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2A6C"/>
        </a:solidFill>
        <a:effectLst/>
      </p:bgPr>
    </p:bg>
    <p:spTree>
      <p:nvGrpSpPr>
        <p:cNvPr id="1" name="">
          <a:extLst>
            <a:ext uri="{FF2B5EF4-FFF2-40B4-BE49-F238E27FC236}">
              <a16:creationId xmlns:a16="http://schemas.microsoft.com/office/drawing/2014/main" id="{E6AA0AE7-8C17-3CD6-25AD-7C9F74C807F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34955DF-3600-1550-C2F5-FAC696F338BF}"/>
              </a:ext>
            </a:extLst>
          </p:cNvPr>
          <p:cNvGrpSpPr/>
          <p:nvPr/>
        </p:nvGrpSpPr>
        <p:grpSpPr>
          <a:xfrm>
            <a:off x="666750" y="666750"/>
            <a:ext cx="8324850" cy="8953500"/>
            <a:chOff x="0" y="0"/>
            <a:chExt cx="1289737" cy="1387131"/>
          </a:xfrm>
        </p:grpSpPr>
        <p:sp>
          <p:nvSpPr>
            <p:cNvPr id="3" name="Freeform 3">
              <a:extLst>
                <a:ext uri="{FF2B5EF4-FFF2-40B4-BE49-F238E27FC236}">
                  <a16:creationId xmlns:a16="http://schemas.microsoft.com/office/drawing/2014/main" id="{A16A96B7-055B-6EF2-B1CC-1454634965BA}"/>
                </a:ext>
              </a:extLst>
            </p:cNvPr>
            <p:cNvSpPr/>
            <p:nvPr/>
          </p:nvSpPr>
          <p:spPr>
            <a:xfrm>
              <a:off x="0" y="0"/>
              <a:ext cx="1289737" cy="1387131"/>
            </a:xfrm>
            <a:custGeom>
              <a:avLst/>
              <a:gdLst/>
              <a:ahLst/>
              <a:cxnLst/>
              <a:rect l="l" t="t" r="r" b="b"/>
              <a:pathLst>
                <a:path w="1289737" h="1387131">
                  <a:moveTo>
                    <a:pt x="0" y="0"/>
                  </a:moveTo>
                  <a:lnTo>
                    <a:pt x="1289737" y="0"/>
                  </a:lnTo>
                  <a:lnTo>
                    <a:pt x="1289737" y="1387131"/>
                  </a:lnTo>
                  <a:lnTo>
                    <a:pt x="0" y="1387131"/>
                  </a:lnTo>
                  <a:close/>
                </a:path>
              </a:pathLst>
            </a:custGeom>
            <a:blipFill>
              <a:blip/>
              <a:stretch>
                <a:fillRect t="-258" b="-258"/>
              </a:stretch>
            </a:blipFill>
          </p:spPr>
          <p:txBody>
            <a:bodyPr/>
            <a:lstStyle/>
            <a:p>
              <a:endParaRPr lang="ko-KR" altLang="en-US"/>
            </a:p>
          </p:txBody>
        </p:sp>
      </p:grpSp>
      <p:sp>
        <p:nvSpPr>
          <p:cNvPr id="4" name="TextBox 4">
            <a:extLst>
              <a:ext uri="{FF2B5EF4-FFF2-40B4-BE49-F238E27FC236}">
                <a16:creationId xmlns:a16="http://schemas.microsoft.com/office/drawing/2014/main" id="{BE6C5D9B-409F-7690-72A9-926193461043}"/>
              </a:ext>
            </a:extLst>
          </p:cNvPr>
          <p:cNvSpPr txBox="1"/>
          <p:nvPr/>
        </p:nvSpPr>
        <p:spPr>
          <a:xfrm>
            <a:off x="10734675" y="2784574"/>
            <a:ext cx="6247237" cy="6463308"/>
          </a:xfrm>
          <a:prstGeom prst="rect">
            <a:avLst/>
          </a:prstGeom>
        </p:spPr>
        <p:txBody>
          <a:bodyPr lIns="0" tIns="0" rIns="0" bIns="0" rtlCol="0" anchor="t">
            <a:spAutoFit/>
          </a:bodyPr>
          <a:lstStyle/>
          <a:p>
            <a:pPr marL="0" lvl="0" indent="0" algn="l">
              <a:lnSpc>
                <a:spcPts val="4199"/>
              </a:lnSpc>
            </a:pPr>
            <a:r>
              <a:rPr lang="en-US" sz="3500" dirty="0" err="1">
                <a:solidFill>
                  <a:srgbClr val="F3F3F3"/>
                </a:solidFill>
                <a:latin typeface="TT Interphases"/>
                <a:ea typeface="TT Interphases"/>
                <a:cs typeface="TT Interphases"/>
                <a:sym typeface="TT Interphases"/>
              </a:rPr>
              <a:t>最も近い</a:t>
            </a:r>
            <a:r>
              <a:rPr lang="en-US" sz="3500" dirty="0">
                <a:solidFill>
                  <a:srgbClr val="F3F3F3"/>
                </a:solidFill>
                <a:latin typeface="TT Interphases"/>
                <a:ea typeface="TT Interphases"/>
                <a:cs typeface="TT Interphases"/>
                <a:sym typeface="TT Interphases"/>
              </a:rPr>
              <a:t> K </a:t>
            </a:r>
            <a:r>
              <a:rPr lang="en-US" sz="3500" dirty="0" err="1">
                <a:solidFill>
                  <a:srgbClr val="F3F3F3"/>
                </a:solidFill>
                <a:latin typeface="TT Interphases"/>
                <a:ea typeface="TT Interphases"/>
                <a:cs typeface="TT Interphases"/>
                <a:sym typeface="TT Interphases"/>
              </a:rPr>
              <a:t>個の近傍データを基準に</a:t>
            </a:r>
            <a:r>
              <a:rPr lang="en-US" sz="3500" u="none" dirty="0" err="1">
                <a:solidFill>
                  <a:srgbClr val="F3F3F3"/>
                </a:solidFill>
                <a:latin typeface="TT Interphases"/>
                <a:ea typeface="TT Interphases"/>
                <a:cs typeface="TT Interphases"/>
                <a:sym typeface="TT Interphases"/>
              </a:rPr>
              <a:t>、データ間の</a:t>
            </a:r>
            <a:r>
              <a:rPr lang="en-US" sz="3500" u="none" dirty="0">
                <a:solidFill>
                  <a:srgbClr val="F3F3F3"/>
                </a:solidFill>
                <a:latin typeface="TT Interphases"/>
                <a:ea typeface="TT Interphases"/>
                <a:cs typeface="TT Interphases"/>
                <a:sym typeface="TT Interphases"/>
              </a:rPr>
              <a:t>**</a:t>
            </a:r>
            <a:r>
              <a:rPr lang="en-US" sz="3500" dirty="0" err="1">
                <a:solidFill>
                  <a:srgbClr val="F3F3F3"/>
                </a:solidFill>
                <a:latin typeface="TT Interphases"/>
                <a:ea typeface="TT Interphases"/>
                <a:cs typeface="TT Interphases"/>
                <a:sym typeface="TT Interphases"/>
              </a:rPr>
              <a:t>類似性を判断するアルゴリズム</a:t>
            </a:r>
            <a:r>
              <a:rPr lang="en-US" sz="3500" u="none" dirty="0">
                <a:solidFill>
                  <a:srgbClr val="F3F3F3"/>
                </a:solidFill>
                <a:latin typeface="TT Interphases"/>
                <a:ea typeface="TT Interphases"/>
                <a:cs typeface="TT Interphases"/>
                <a:sym typeface="TT Interphases"/>
              </a:rPr>
              <a:t>。</a:t>
            </a:r>
          </a:p>
          <a:p>
            <a:pPr algn="l">
              <a:lnSpc>
                <a:spcPts val="4199"/>
              </a:lnSpc>
            </a:pPr>
            <a:endParaRPr lang="en-US" sz="3500" u="none" dirty="0">
              <a:solidFill>
                <a:srgbClr val="F3F3F3"/>
              </a:solidFill>
              <a:latin typeface="TT Interphases"/>
              <a:ea typeface="TT Interphases"/>
              <a:cs typeface="TT Interphases"/>
              <a:sym typeface="TT Interphases"/>
            </a:endParaRPr>
          </a:p>
          <a:p>
            <a:pPr algn="l">
              <a:lnSpc>
                <a:spcPts val="4199"/>
              </a:lnSpc>
            </a:pPr>
            <a:r>
              <a:rPr lang="en-US" sz="3500" dirty="0">
                <a:solidFill>
                  <a:srgbClr val="F3F3F3"/>
                </a:solidFill>
                <a:latin typeface="TT Interphases"/>
                <a:ea typeface="TT Interphases"/>
                <a:cs typeface="TT Interphases"/>
                <a:sym typeface="TT Interphases"/>
              </a:rPr>
              <a:t>「</a:t>
            </a:r>
            <a:r>
              <a:rPr lang="en-US" sz="3500" dirty="0" err="1">
                <a:solidFill>
                  <a:srgbClr val="F3F3F3"/>
                </a:solidFill>
                <a:latin typeface="TT Interphases"/>
                <a:ea typeface="TT Interphases"/>
                <a:cs typeface="TT Interphases"/>
                <a:sym typeface="TT Interphases"/>
              </a:rPr>
              <a:t>近いデータほど似ている」という直感的な考え方に基づ</a:t>
            </a:r>
            <a:r>
              <a:rPr lang="en-US" sz="3500" u="none" dirty="0" err="1">
                <a:solidFill>
                  <a:srgbClr val="F3F3F3"/>
                </a:solidFill>
                <a:latin typeface="TT Interphases"/>
                <a:ea typeface="TT Interphases"/>
                <a:cs typeface="TT Interphases"/>
                <a:sym typeface="TT Interphases"/>
              </a:rPr>
              <a:t>いている</a:t>
            </a:r>
            <a:r>
              <a:rPr lang="en-US" sz="3500" u="none" dirty="0">
                <a:solidFill>
                  <a:srgbClr val="F3F3F3"/>
                </a:solidFill>
                <a:latin typeface="TT Interphases"/>
                <a:ea typeface="TT Interphases"/>
                <a:cs typeface="TT Interphases"/>
                <a:sym typeface="TT Interphases"/>
              </a:rPr>
              <a:t>。</a:t>
            </a:r>
          </a:p>
          <a:p>
            <a:pPr algn="l">
              <a:lnSpc>
                <a:spcPts val="4199"/>
              </a:lnSpc>
            </a:pPr>
            <a:r>
              <a:rPr lang="en-US" sz="3500" dirty="0" err="1">
                <a:solidFill>
                  <a:srgbClr val="F3F3F3"/>
                </a:solidFill>
                <a:latin typeface="TT Interphases"/>
                <a:ea typeface="TT Interphases"/>
                <a:cs typeface="TT Interphases"/>
                <a:sym typeface="TT Interphases"/>
              </a:rPr>
              <a:t>本プロジェクトでは、位置情報と検索量を組み合わせた空間において</a:t>
            </a:r>
            <a:r>
              <a:rPr lang="en-US" sz="3500" u="none" dirty="0">
                <a:solidFill>
                  <a:srgbClr val="F3F3F3"/>
                </a:solidFill>
                <a:latin typeface="TT Interphases"/>
                <a:ea typeface="TT Interphases"/>
                <a:cs typeface="TT Interphases"/>
                <a:sym typeface="TT Interphases"/>
              </a:rPr>
              <a:t>、</a:t>
            </a:r>
          </a:p>
          <a:p>
            <a:pPr marL="0" lvl="0" indent="0" algn="l">
              <a:lnSpc>
                <a:spcPts val="4199"/>
              </a:lnSpc>
            </a:pPr>
            <a:r>
              <a:rPr lang="en-US" sz="3500" dirty="0" err="1">
                <a:solidFill>
                  <a:srgbClr val="F3F3F3"/>
                </a:solidFill>
                <a:latin typeface="TT Interphases"/>
                <a:ea typeface="TT Interphases"/>
                <a:cs typeface="TT Interphases"/>
                <a:sym typeface="TT Interphases"/>
              </a:rPr>
              <a:t>嗜好が類似したスポットをクラスタリングするために活用</a:t>
            </a:r>
            <a:r>
              <a:rPr lang="en-US" sz="3500" u="none" dirty="0" err="1">
                <a:solidFill>
                  <a:srgbClr val="F3F3F3"/>
                </a:solidFill>
                <a:latin typeface="TT Interphases"/>
                <a:ea typeface="TT Interphases"/>
                <a:cs typeface="TT Interphases"/>
                <a:sym typeface="TT Interphases"/>
              </a:rPr>
              <a:t>した</a:t>
            </a:r>
            <a:endParaRPr lang="en-US" sz="3500" u="none" dirty="0">
              <a:solidFill>
                <a:srgbClr val="F3F3F3"/>
              </a:solidFill>
              <a:latin typeface="TT Interphases"/>
              <a:ea typeface="TT Interphases"/>
              <a:cs typeface="TT Interphases"/>
              <a:sym typeface="TT Interphases"/>
            </a:endParaRPr>
          </a:p>
        </p:txBody>
      </p:sp>
      <p:sp>
        <p:nvSpPr>
          <p:cNvPr id="5" name="TextBox 5">
            <a:extLst>
              <a:ext uri="{FF2B5EF4-FFF2-40B4-BE49-F238E27FC236}">
                <a16:creationId xmlns:a16="http://schemas.microsoft.com/office/drawing/2014/main" id="{F7070E65-775E-9DC5-FA5D-3250FDFFDE98}"/>
              </a:ext>
            </a:extLst>
          </p:cNvPr>
          <p:cNvSpPr txBox="1"/>
          <p:nvPr/>
        </p:nvSpPr>
        <p:spPr>
          <a:xfrm>
            <a:off x="10734675" y="1502499"/>
            <a:ext cx="6886575" cy="1221745"/>
          </a:xfrm>
          <a:prstGeom prst="rect">
            <a:avLst/>
          </a:prstGeom>
        </p:spPr>
        <p:txBody>
          <a:bodyPr lIns="0" tIns="0" rIns="0" bIns="0" rtlCol="0" anchor="t">
            <a:spAutoFit/>
          </a:bodyPr>
          <a:lstStyle/>
          <a:p>
            <a:pPr marL="0" lvl="0" indent="0" algn="l">
              <a:lnSpc>
                <a:spcPts val="9100"/>
              </a:lnSpc>
            </a:pPr>
            <a:r>
              <a:rPr lang="en-US" sz="9100" spc="-182">
                <a:solidFill>
                  <a:srgbClr val="FFFFFF"/>
                </a:solidFill>
                <a:latin typeface="TT Ramillas"/>
                <a:ea typeface="TT Ramillas"/>
                <a:cs typeface="TT Ramillas"/>
                <a:sym typeface="TT Ramillas"/>
              </a:rPr>
              <a:t>knnとは？</a:t>
            </a:r>
          </a:p>
        </p:txBody>
      </p:sp>
    </p:spTree>
    <p:extLst>
      <p:ext uri="{BB962C8B-B14F-4D97-AF65-F5344CB8AC3E}">
        <p14:creationId xmlns:p14="http://schemas.microsoft.com/office/powerpoint/2010/main" val="103831218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2A6C"/>
        </a:solidFill>
        <a:effectLst/>
      </p:bgPr>
    </p:bg>
    <p:spTree>
      <p:nvGrpSpPr>
        <p:cNvPr id="1" name=""/>
        <p:cNvGrpSpPr/>
        <p:nvPr/>
      </p:nvGrpSpPr>
      <p:grpSpPr>
        <a:xfrm>
          <a:off x="0" y="0"/>
          <a:ext cx="0" cy="0"/>
          <a:chOff x="0" y="0"/>
          <a:chExt cx="0" cy="0"/>
        </a:xfrm>
      </p:grpSpPr>
      <p:sp>
        <p:nvSpPr>
          <p:cNvPr id="4" name="TextBox 4"/>
          <p:cNvSpPr txBox="1"/>
          <p:nvPr/>
        </p:nvSpPr>
        <p:spPr>
          <a:xfrm>
            <a:off x="914400" y="2552700"/>
            <a:ext cx="15076912" cy="7540526"/>
          </a:xfrm>
          <a:prstGeom prst="rect">
            <a:avLst/>
          </a:prstGeom>
        </p:spPr>
        <p:txBody>
          <a:bodyPr wrap="square" lIns="0" tIns="0" rIns="0" bIns="0" rtlCol="0" anchor="t">
            <a:spAutoFit/>
          </a:bodyPr>
          <a:lstStyle/>
          <a:p>
            <a:r>
              <a:rPr lang="ja-JP" altLang="en-US" sz="3500" b="1">
                <a:solidFill>
                  <a:schemeClr val="bg1"/>
                </a:solidFill>
              </a:rPr>
              <a:t>データ</a:t>
            </a:r>
            <a:r>
              <a:rPr lang="ko-KR" altLang="en-US" sz="3500" b="1">
                <a:solidFill>
                  <a:schemeClr val="bg1"/>
                </a:solidFill>
              </a:rPr>
              <a:t>前処理（</a:t>
            </a:r>
            <a:r>
              <a:rPr lang="en" altLang="ko-KR" sz="3500" b="1" dirty="0">
                <a:solidFill>
                  <a:schemeClr val="bg1"/>
                </a:solidFill>
              </a:rPr>
              <a:t>Preprocessing</a:t>
            </a:r>
            <a:r>
              <a:rPr lang="ko-KR" altLang="en" sz="3500" b="1" dirty="0">
                <a:solidFill>
                  <a:schemeClr val="bg1"/>
                </a:solidFill>
              </a:rPr>
              <a:t>）</a:t>
            </a:r>
            <a:endParaRPr lang="en" altLang="ko-KR" sz="3500" dirty="0">
              <a:solidFill>
                <a:schemeClr val="bg1"/>
              </a:solidFill>
            </a:endParaRPr>
          </a:p>
          <a:p>
            <a:r>
              <a:rPr lang="ko-KR" altLang="en" sz="3500" dirty="0">
                <a:solidFill>
                  <a:schemeClr val="bg1"/>
                </a:solidFill>
              </a:rPr>
              <a:t>・</a:t>
            </a:r>
            <a:r>
              <a:rPr lang="en" altLang="ko-KR" sz="3500" dirty="0" err="1">
                <a:solidFill>
                  <a:schemeClr val="bg1"/>
                </a:solidFill>
              </a:rPr>
              <a:t>Romanizer</a:t>
            </a:r>
            <a:r>
              <a:rPr lang="en" altLang="ko-KR" sz="3500" dirty="0">
                <a:solidFill>
                  <a:schemeClr val="bg1"/>
                </a:solidFill>
              </a:rPr>
              <a:t> / </a:t>
            </a:r>
            <a:r>
              <a:rPr lang="en" altLang="ko-KR" sz="3500" dirty="0" err="1">
                <a:solidFill>
                  <a:schemeClr val="bg1"/>
                </a:solidFill>
              </a:rPr>
              <a:t>PyKakasi</a:t>
            </a:r>
            <a:r>
              <a:rPr lang="en" altLang="ko-KR" sz="3500" dirty="0">
                <a:solidFill>
                  <a:schemeClr val="bg1"/>
                </a:solidFill>
              </a:rPr>
              <a:t> </a:t>
            </a:r>
            <a:r>
              <a:rPr lang="ja-JP" altLang="en-US" sz="3500">
                <a:solidFill>
                  <a:schemeClr val="bg1"/>
                </a:solidFill>
              </a:rPr>
              <a:t>を</a:t>
            </a:r>
            <a:r>
              <a:rPr lang="ko-KR" altLang="en-US" sz="3500">
                <a:solidFill>
                  <a:schemeClr val="bg1"/>
                </a:solidFill>
              </a:rPr>
              <a:t>用</a:t>
            </a:r>
            <a:r>
              <a:rPr lang="ja-JP" altLang="en-US" sz="3500">
                <a:solidFill>
                  <a:schemeClr val="bg1"/>
                </a:solidFill>
              </a:rPr>
              <a:t>いた</a:t>
            </a:r>
            <a:r>
              <a:rPr lang="ko-KR" altLang="en-US" sz="3500">
                <a:solidFill>
                  <a:schemeClr val="bg1"/>
                </a:solidFill>
              </a:rPr>
              <a:t>韓国語・日本語地名</a:t>
            </a:r>
            <a:r>
              <a:rPr lang="ja-JP" altLang="en-US" sz="3500">
                <a:solidFill>
                  <a:schemeClr val="bg1"/>
                </a:solidFill>
              </a:rPr>
              <a:t>のローマ</a:t>
            </a:r>
            <a:r>
              <a:rPr lang="ko-KR" altLang="en-US" sz="3500">
                <a:solidFill>
                  <a:schemeClr val="bg1"/>
                </a:solidFill>
              </a:rPr>
              <a:t>字統一</a:t>
            </a:r>
          </a:p>
          <a:p>
            <a:r>
              <a:rPr lang="ko-KR" altLang="en-US" sz="3500" dirty="0">
                <a:solidFill>
                  <a:schemeClr val="bg1"/>
                </a:solidFill>
              </a:rPr>
              <a:t>・</a:t>
            </a:r>
            <a:r>
              <a:rPr lang="ko-KR" altLang="en-US" sz="3500" dirty="0" err="1">
                <a:solidFill>
                  <a:schemeClr val="bg1"/>
                </a:solidFill>
              </a:rPr>
              <a:t>言語差</a:t>
            </a:r>
            <a:r>
              <a:rPr lang="ja-JP" altLang="en-US" sz="3500">
                <a:solidFill>
                  <a:schemeClr val="bg1"/>
                </a:solidFill>
              </a:rPr>
              <a:t>による</a:t>
            </a:r>
            <a:r>
              <a:rPr lang="ko-KR" altLang="en-US" sz="3500">
                <a:solidFill>
                  <a:schemeClr val="bg1"/>
                </a:solidFill>
              </a:rPr>
              <a:t>表記揺</a:t>
            </a:r>
            <a:r>
              <a:rPr lang="ja-JP" altLang="en-US" sz="3500">
                <a:solidFill>
                  <a:schemeClr val="bg1"/>
                </a:solidFill>
              </a:rPr>
              <a:t>れの</a:t>
            </a:r>
            <a:r>
              <a:rPr lang="ko-KR" altLang="en-US" sz="3500">
                <a:solidFill>
                  <a:schemeClr val="bg1"/>
                </a:solidFill>
              </a:rPr>
              <a:t>解消</a:t>
            </a:r>
          </a:p>
          <a:p>
            <a:r>
              <a:rPr lang="ko-KR" altLang="en-US" sz="3500" dirty="0">
                <a:solidFill>
                  <a:schemeClr val="bg1"/>
                </a:solidFill>
              </a:rPr>
              <a:t>・</a:t>
            </a:r>
            <a:r>
              <a:rPr lang="ko-KR" altLang="en-US" sz="3500" dirty="0" err="1">
                <a:solidFill>
                  <a:schemeClr val="bg1"/>
                </a:solidFill>
              </a:rPr>
              <a:t>後続分析</a:t>
            </a:r>
            <a:r>
              <a:rPr lang="ja-JP" altLang="en-US" sz="3500">
                <a:solidFill>
                  <a:schemeClr val="bg1"/>
                </a:solidFill>
              </a:rPr>
              <a:t>の</a:t>
            </a:r>
            <a:r>
              <a:rPr lang="ko-KR" altLang="en-US" sz="3500">
                <a:solidFill>
                  <a:schemeClr val="bg1"/>
                </a:solidFill>
              </a:rPr>
              <a:t>一貫性確保</a:t>
            </a:r>
          </a:p>
          <a:p>
            <a:br>
              <a:rPr lang="ko-KR" altLang="en-US" sz="3500" dirty="0">
                <a:solidFill>
                  <a:schemeClr val="bg1"/>
                </a:solidFill>
              </a:rPr>
            </a:br>
            <a:endParaRPr lang="ko-KR" altLang="en-US" sz="3500" dirty="0">
              <a:solidFill>
                <a:schemeClr val="bg1"/>
              </a:solidFill>
            </a:endParaRPr>
          </a:p>
          <a:p>
            <a:r>
              <a:rPr lang="ja-JP" altLang="en-US" sz="3500" b="1">
                <a:solidFill>
                  <a:schemeClr val="bg1"/>
                </a:solidFill>
              </a:rPr>
              <a:t>データマイニング（</a:t>
            </a:r>
            <a:r>
              <a:rPr lang="en" altLang="ko-KR" sz="3500" b="1" dirty="0">
                <a:solidFill>
                  <a:schemeClr val="bg1"/>
                </a:solidFill>
              </a:rPr>
              <a:t>Data Mining</a:t>
            </a:r>
            <a:r>
              <a:rPr lang="ko-KR" altLang="en" sz="3500" b="1" dirty="0">
                <a:solidFill>
                  <a:schemeClr val="bg1"/>
                </a:solidFill>
              </a:rPr>
              <a:t>）</a:t>
            </a:r>
            <a:endParaRPr lang="en" altLang="ko-KR" sz="3500" dirty="0">
              <a:solidFill>
                <a:schemeClr val="bg1"/>
              </a:solidFill>
            </a:endParaRPr>
          </a:p>
          <a:p>
            <a:r>
              <a:rPr lang="ko-KR" altLang="en" sz="3500" dirty="0">
                <a:solidFill>
                  <a:schemeClr val="bg1"/>
                </a:solidFill>
              </a:rPr>
              <a:t>・</a:t>
            </a:r>
            <a:r>
              <a:rPr lang="en" altLang="ko-KR" sz="3500" dirty="0" err="1">
                <a:solidFill>
                  <a:schemeClr val="bg1"/>
                </a:solidFill>
              </a:rPr>
              <a:t>SerpApi</a:t>
            </a:r>
            <a:r>
              <a:rPr lang="en" altLang="ko-KR" sz="3500" dirty="0">
                <a:solidFill>
                  <a:schemeClr val="bg1"/>
                </a:solidFill>
              </a:rPr>
              <a:t> </a:t>
            </a:r>
            <a:r>
              <a:rPr lang="ja-JP" altLang="en-US" sz="3500">
                <a:solidFill>
                  <a:schemeClr val="bg1"/>
                </a:solidFill>
              </a:rPr>
              <a:t>による</a:t>
            </a:r>
            <a:r>
              <a:rPr lang="ko-KR" altLang="en-US" sz="3500">
                <a:solidFill>
                  <a:schemeClr val="bg1"/>
                </a:solidFill>
              </a:rPr>
              <a:t>各</a:t>
            </a:r>
            <a:r>
              <a:rPr lang="ja-JP" altLang="en-US" sz="3500">
                <a:solidFill>
                  <a:schemeClr val="bg1"/>
                </a:solidFill>
              </a:rPr>
              <a:t>スポットの </a:t>
            </a:r>
            <a:r>
              <a:rPr lang="en" altLang="ko-KR" sz="3500" dirty="0">
                <a:solidFill>
                  <a:schemeClr val="bg1"/>
                </a:solidFill>
              </a:rPr>
              <a:t>Global Search Volume </a:t>
            </a:r>
            <a:r>
              <a:rPr lang="ko-KR" altLang="en-US" sz="3500" dirty="0" err="1">
                <a:solidFill>
                  <a:schemeClr val="bg1"/>
                </a:solidFill>
              </a:rPr>
              <a:t>取得</a:t>
            </a:r>
            <a:endParaRPr lang="ko-KR" altLang="en-US" sz="3500" dirty="0">
              <a:solidFill>
                <a:schemeClr val="bg1"/>
              </a:solidFill>
            </a:endParaRPr>
          </a:p>
          <a:p>
            <a:r>
              <a:rPr lang="ko-KR" altLang="en-US" sz="3500" dirty="0">
                <a:solidFill>
                  <a:schemeClr val="bg1"/>
                </a:solidFill>
              </a:rPr>
              <a:t>・</a:t>
            </a:r>
            <a:r>
              <a:rPr lang="ko-KR" altLang="en-US" sz="3500" dirty="0" err="1">
                <a:solidFill>
                  <a:schemeClr val="bg1"/>
                </a:solidFill>
              </a:rPr>
              <a:t>検索量</a:t>
            </a:r>
            <a:r>
              <a:rPr lang="ja-JP" altLang="en-US" sz="3500">
                <a:solidFill>
                  <a:schemeClr val="bg1"/>
                </a:solidFill>
              </a:rPr>
              <a:t>を</a:t>
            </a:r>
            <a:r>
              <a:rPr lang="ko-KR" altLang="en-US" sz="3500">
                <a:solidFill>
                  <a:schemeClr val="bg1"/>
                </a:solidFill>
              </a:rPr>
              <a:t>関心度・</a:t>
            </a:r>
            <a:r>
              <a:rPr lang="ja-JP" altLang="en-US" sz="3500">
                <a:solidFill>
                  <a:schemeClr val="bg1"/>
                </a:solidFill>
              </a:rPr>
              <a:t>トレンド</a:t>
            </a:r>
            <a:r>
              <a:rPr lang="ko-KR" altLang="en-US" sz="3500">
                <a:solidFill>
                  <a:schemeClr val="bg1"/>
                </a:solidFill>
              </a:rPr>
              <a:t>指標</a:t>
            </a:r>
            <a:r>
              <a:rPr lang="ja-JP" altLang="en-US" sz="3500">
                <a:solidFill>
                  <a:schemeClr val="bg1"/>
                </a:solidFill>
              </a:rPr>
              <a:t>として</a:t>
            </a:r>
            <a:r>
              <a:rPr lang="ko-KR" altLang="en-US" sz="3500">
                <a:solidFill>
                  <a:schemeClr val="bg1"/>
                </a:solidFill>
              </a:rPr>
              <a:t>活用</a:t>
            </a:r>
          </a:p>
          <a:p>
            <a:br>
              <a:rPr lang="ko-KR" altLang="en-US" sz="3500" dirty="0">
                <a:solidFill>
                  <a:schemeClr val="bg1"/>
                </a:solidFill>
              </a:rPr>
            </a:br>
            <a:endParaRPr lang="ko-KR" altLang="en-US" sz="3500" dirty="0">
              <a:solidFill>
                <a:schemeClr val="bg1"/>
              </a:solidFill>
            </a:endParaRPr>
          </a:p>
          <a:p>
            <a:r>
              <a:rPr lang="ko-KR" altLang="en-US" sz="3500" b="1" dirty="0" err="1">
                <a:solidFill>
                  <a:schemeClr val="bg1"/>
                </a:solidFill>
              </a:rPr>
              <a:t>可視化</a:t>
            </a:r>
            <a:r>
              <a:rPr lang="ko-KR" altLang="en-US" sz="3500" b="1" dirty="0">
                <a:solidFill>
                  <a:schemeClr val="bg1"/>
                </a:solidFill>
              </a:rPr>
              <a:t>（</a:t>
            </a:r>
            <a:r>
              <a:rPr lang="en" altLang="ko-KR" sz="3500" b="1" dirty="0">
                <a:solidFill>
                  <a:schemeClr val="bg1"/>
                </a:solidFill>
              </a:rPr>
              <a:t>Visualization</a:t>
            </a:r>
            <a:r>
              <a:rPr lang="ko-KR" altLang="en" sz="3500" b="1" dirty="0">
                <a:solidFill>
                  <a:schemeClr val="bg1"/>
                </a:solidFill>
              </a:rPr>
              <a:t>）</a:t>
            </a:r>
            <a:endParaRPr lang="en" altLang="ko-KR" sz="3500" dirty="0">
              <a:solidFill>
                <a:schemeClr val="bg1"/>
              </a:solidFill>
            </a:endParaRPr>
          </a:p>
          <a:p>
            <a:r>
              <a:rPr lang="ko-KR" altLang="en" sz="3500" dirty="0">
                <a:solidFill>
                  <a:schemeClr val="bg1"/>
                </a:solidFill>
              </a:rPr>
              <a:t>・</a:t>
            </a:r>
            <a:r>
              <a:rPr lang="en" altLang="ko-KR" sz="3500" dirty="0" err="1">
                <a:solidFill>
                  <a:schemeClr val="bg1"/>
                </a:solidFill>
              </a:rPr>
              <a:t>Plotly</a:t>
            </a:r>
            <a:r>
              <a:rPr lang="en" altLang="ko-KR" sz="3500" dirty="0">
                <a:solidFill>
                  <a:schemeClr val="bg1"/>
                </a:solidFill>
              </a:rPr>
              <a:t> </a:t>
            </a:r>
            <a:r>
              <a:rPr lang="ja-JP" altLang="en-US" sz="3500">
                <a:solidFill>
                  <a:schemeClr val="bg1"/>
                </a:solidFill>
              </a:rPr>
              <a:t>による</a:t>
            </a:r>
            <a:r>
              <a:rPr lang="ko-KR" altLang="en-US" sz="3500">
                <a:solidFill>
                  <a:schemeClr val="bg1"/>
                </a:solidFill>
              </a:rPr>
              <a:t>座標計算</a:t>
            </a:r>
          </a:p>
          <a:p>
            <a:r>
              <a:rPr lang="ko-KR" altLang="en-US" sz="3500" dirty="0">
                <a:solidFill>
                  <a:schemeClr val="bg1"/>
                </a:solidFill>
              </a:rPr>
              <a:t>・</a:t>
            </a:r>
            <a:r>
              <a:rPr lang="ja-JP" altLang="en-US" sz="3500">
                <a:solidFill>
                  <a:schemeClr val="bg1"/>
                </a:solidFill>
              </a:rPr>
              <a:t>ユーザー</a:t>
            </a:r>
            <a:r>
              <a:rPr lang="ko-KR" altLang="en-US" sz="3500">
                <a:solidFill>
                  <a:schemeClr val="bg1"/>
                </a:solidFill>
              </a:rPr>
              <a:t>操作可能</a:t>
            </a:r>
            <a:r>
              <a:rPr lang="ja-JP" altLang="en-US" sz="3500">
                <a:solidFill>
                  <a:schemeClr val="bg1"/>
                </a:solidFill>
              </a:rPr>
              <a:t>なインタラクティブ </a:t>
            </a:r>
            <a:r>
              <a:rPr lang="en" altLang="ko-KR" sz="3500" dirty="0">
                <a:solidFill>
                  <a:schemeClr val="bg1"/>
                </a:solidFill>
              </a:rPr>
              <a:t>HTML </a:t>
            </a:r>
            <a:r>
              <a:rPr lang="ja-JP" altLang="en-US" sz="3500">
                <a:solidFill>
                  <a:schemeClr val="bg1"/>
                </a:solidFill>
              </a:rPr>
              <a:t>マップ</a:t>
            </a:r>
            <a:r>
              <a:rPr lang="ko-KR" altLang="en-US" sz="3500">
                <a:solidFill>
                  <a:schemeClr val="bg1"/>
                </a:solidFill>
              </a:rPr>
              <a:t>生成</a:t>
            </a:r>
          </a:p>
        </p:txBody>
      </p:sp>
      <p:sp>
        <p:nvSpPr>
          <p:cNvPr id="5" name="TextBox 5"/>
          <p:cNvSpPr txBox="1"/>
          <p:nvPr/>
        </p:nvSpPr>
        <p:spPr>
          <a:xfrm>
            <a:off x="914400" y="647700"/>
            <a:ext cx="9315450" cy="1477328"/>
          </a:xfrm>
          <a:prstGeom prst="rect">
            <a:avLst/>
          </a:prstGeom>
        </p:spPr>
        <p:txBody>
          <a:bodyPr wrap="square" lIns="0" tIns="0" rIns="0" bIns="0" rtlCol="0" anchor="t">
            <a:spAutoFit/>
          </a:bodyPr>
          <a:lstStyle/>
          <a:p>
            <a:r>
              <a:rPr lang="ko-KR" altLang="en-US" sz="9600" b="1" dirty="0" err="1">
                <a:solidFill>
                  <a:schemeClr val="bg1"/>
                </a:solidFill>
              </a:rPr>
              <a:t>処理</a:t>
            </a:r>
            <a:r>
              <a:rPr lang="ja-JP" altLang="en-US" sz="9600" b="1">
                <a:solidFill>
                  <a:schemeClr val="bg1"/>
                </a:solidFill>
              </a:rPr>
              <a:t>パイプライン</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32F2F"/>
        </a:solidFill>
        <a:effectLst/>
      </p:bgPr>
    </p:bg>
    <p:spTree>
      <p:nvGrpSpPr>
        <p:cNvPr id="1" name="">
          <a:extLst>
            <a:ext uri="{FF2B5EF4-FFF2-40B4-BE49-F238E27FC236}">
              <a16:creationId xmlns:a16="http://schemas.microsoft.com/office/drawing/2014/main" id="{D306BFB0-533D-D29A-4AAC-2745E1755FBC}"/>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28333967-7085-2E05-4FE8-E508AF8656AC}"/>
              </a:ext>
            </a:extLst>
          </p:cNvPr>
          <p:cNvSpPr txBox="1"/>
          <p:nvPr/>
        </p:nvSpPr>
        <p:spPr>
          <a:xfrm>
            <a:off x="666750" y="815739"/>
            <a:ext cx="17621250" cy="1477328"/>
          </a:xfrm>
          <a:prstGeom prst="rect">
            <a:avLst/>
          </a:prstGeom>
        </p:spPr>
        <p:txBody>
          <a:bodyPr lIns="0" tIns="0" rIns="0" bIns="0" rtlCol="0" anchor="t">
            <a:spAutoFit/>
          </a:bodyPr>
          <a:lstStyle/>
          <a:p>
            <a:r>
              <a:rPr lang="ko-KR" altLang="en-US" sz="9600" b="1" dirty="0" err="1">
                <a:solidFill>
                  <a:schemeClr val="bg1"/>
                </a:solidFill>
              </a:rPr>
              <a:t>実装</a:t>
            </a:r>
            <a:r>
              <a:rPr lang="ja-JP" altLang="en-US" sz="9600" b="1">
                <a:solidFill>
                  <a:schemeClr val="bg1"/>
                </a:solidFill>
              </a:rPr>
              <a:t>のポイント</a:t>
            </a:r>
          </a:p>
        </p:txBody>
      </p:sp>
      <p:sp>
        <p:nvSpPr>
          <p:cNvPr id="3" name="TextBox 3">
            <a:extLst>
              <a:ext uri="{FF2B5EF4-FFF2-40B4-BE49-F238E27FC236}">
                <a16:creationId xmlns:a16="http://schemas.microsoft.com/office/drawing/2014/main" id="{BE164B7E-920E-7316-2A80-BE55184FEA42}"/>
              </a:ext>
            </a:extLst>
          </p:cNvPr>
          <p:cNvSpPr txBox="1"/>
          <p:nvPr/>
        </p:nvSpPr>
        <p:spPr>
          <a:xfrm>
            <a:off x="723686" y="2379980"/>
            <a:ext cx="16840628" cy="5539978"/>
          </a:xfrm>
          <a:prstGeom prst="rect">
            <a:avLst/>
          </a:prstGeom>
        </p:spPr>
        <p:txBody>
          <a:bodyPr lIns="0" tIns="0" rIns="0" bIns="0" rtlCol="0" anchor="t">
            <a:spAutoFit/>
          </a:bodyPr>
          <a:lstStyle/>
          <a:p>
            <a:r>
              <a:rPr lang="ko-KR" altLang="en-US" sz="4000" b="1" dirty="0" err="1">
                <a:solidFill>
                  <a:schemeClr val="bg1"/>
                </a:solidFill>
              </a:rPr>
              <a:t>自動化</a:t>
            </a:r>
            <a:r>
              <a:rPr lang="ko-KR" altLang="en-US" sz="4000" b="1" dirty="0">
                <a:solidFill>
                  <a:schemeClr val="bg1"/>
                </a:solidFill>
              </a:rPr>
              <a:t>（</a:t>
            </a:r>
            <a:r>
              <a:rPr lang="en" altLang="ko-KR" sz="4000" b="1" dirty="0">
                <a:solidFill>
                  <a:schemeClr val="bg1"/>
                </a:solidFill>
              </a:rPr>
              <a:t>Automation</a:t>
            </a:r>
            <a:r>
              <a:rPr lang="ko-KR" altLang="en" sz="4000" b="1" dirty="0">
                <a:solidFill>
                  <a:schemeClr val="bg1"/>
                </a:solidFill>
              </a:rPr>
              <a:t>）</a:t>
            </a:r>
            <a:endParaRPr lang="en" altLang="ko-KR" sz="4000" dirty="0">
              <a:solidFill>
                <a:schemeClr val="bg1"/>
              </a:solidFill>
            </a:endParaRPr>
          </a:p>
          <a:p>
            <a:r>
              <a:rPr lang="ko-KR" altLang="en" sz="4000" dirty="0">
                <a:solidFill>
                  <a:schemeClr val="bg1"/>
                </a:solidFill>
              </a:rPr>
              <a:t>・</a:t>
            </a:r>
            <a:r>
              <a:rPr lang="ja-JP" altLang="en-US" sz="4000">
                <a:solidFill>
                  <a:schemeClr val="bg1"/>
                </a:solidFill>
              </a:rPr>
              <a:t>アンケート</a:t>
            </a:r>
            <a:r>
              <a:rPr lang="ko-KR" altLang="en-US" sz="4000">
                <a:solidFill>
                  <a:schemeClr val="bg1"/>
                </a:solidFill>
              </a:rPr>
              <a:t>入力</a:t>
            </a:r>
            <a:r>
              <a:rPr lang="ja-JP" altLang="en-US" sz="4000">
                <a:solidFill>
                  <a:schemeClr val="bg1"/>
                </a:solidFill>
              </a:rPr>
              <a:t>から</a:t>
            </a:r>
            <a:r>
              <a:rPr lang="ko-KR" altLang="en-US" sz="4000">
                <a:solidFill>
                  <a:schemeClr val="bg1"/>
                </a:solidFill>
              </a:rPr>
              <a:t>最終結果出力</a:t>
            </a:r>
            <a:r>
              <a:rPr lang="ja-JP" altLang="en-US" sz="4000">
                <a:solidFill>
                  <a:schemeClr val="bg1"/>
                </a:solidFill>
              </a:rPr>
              <a:t>までの</a:t>
            </a:r>
            <a:r>
              <a:rPr lang="ko-KR" altLang="en-US" sz="4000">
                <a:solidFill>
                  <a:schemeClr val="bg1"/>
                </a:solidFill>
              </a:rPr>
              <a:t>全工程</a:t>
            </a:r>
            <a:r>
              <a:rPr lang="ja-JP" altLang="en-US" sz="4000">
                <a:solidFill>
                  <a:schemeClr val="bg1"/>
                </a:solidFill>
              </a:rPr>
              <a:t>を </a:t>
            </a:r>
            <a:r>
              <a:rPr lang="en" altLang="ko-KR" sz="4000" dirty="0">
                <a:solidFill>
                  <a:schemeClr val="bg1"/>
                </a:solidFill>
              </a:rPr>
              <a:t>Python </a:t>
            </a:r>
            <a:r>
              <a:rPr lang="ja-JP" altLang="en-US" sz="4000">
                <a:solidFill>
                  <a:schemeClr val="bg1"/>
                </a:solidFill>
              </a:rPr>
              <a:t>スクリプト（</a:t>
            </a:r>
            <a:r>
              <a:rPr lang="en" altLang="ko-KR" sz="4000" dirty="0" err="1">
                <a:solidFill>
                  <a:schemeClr val="bg1"/>
                </a:solidFill>
              </a:rPr>
              <a:t>main.py</a:t>
            </a:r>
            <a:r>
              <a:rPr lang="ko-KR" altLang="en" sz="4000" dirty="0">
                <a:solidFill>
                  <a:schemeClr val="bg1"/>
                </a:solidFill>
              </a:rPr>
              <a:t>）</a:t>
            </a:r>
            <a:r>
              <a:rPr lang="ja-JP" altLang="en-US" sz="4000">
                <a:solidFill>
                  <a:schemeClr val="bg1"/>
                </a:solidFill>
              </a:rPr>
              <a:t>で</a:t>
            </a:r>
            <a:r>
              <a:rPr lang="ko-KR" altLang="en-US" sz="4000">
                <a:solidFill>
                  <a:schemeClr val="bg1"/>
                </a:solidFill>
              </a:rPr>
              <a:t>一元化</a:t>
            </a:r>
          </a:p>
          <a:p>
            <a:r>
              <a:rPr lang="ko-KR" altLang="en-US" sz="4000" dirty="0">
                <a:solidFill>
                  <a:schemeClr val="bg1"/>
                </a:solidFill>
              </a:rPr>
              <a:t>・</a:t>
            </a:r>
            <a:r>
              <a:rPr lang="ko-KR" altLang="en-US" sz="4000" dirty="0" err="1">
                <a:solidFill>
                  <a:schemeClr val="bg1"/>
                </a:solidFill>
              </a:rPr>
              <a:t>分析</a:t>
            </a:r>
            <a:r>
              <a:rPr lang="ja-JP" altLang="en-US" sz="4000">
                <a:solidFill>
                  <a:schemeClr val="bg1"/>
                </a:solidFill>
              </a:rPr>
              <a:t>フローの</a:t>
            </a:r>
            <a:r>
              <a:rPr lang="ko-KR" altLang="en-US" sz="4000">
                <a:solidFill>
                  <a:schemeClr val="bg1"/>
                </a:solidFill>
              </a:rPr>
              <a:t>再現性</a:t>
            </a:r>
            <a:r>
              <a:rPr lang="ja-JP" altLang="en-US" sz="4000">
                <a:solidFill>
                  <a:schemeClr val="bg1"/>
                </a:solidFill>
              </a:rPr>
              <a:t>および</a:t>
            </a:r>
            <a:r>
              <a:rPr lang="ko-KR" altLang="en-US" sz="4000">
                <a:solidFill>
                  <a:schemeClr val="bg1"/>
                </a:solidFill>
              </a:rPr>
              <a:t>作業効率向上</a:t>
            </a:r>
          </a:p>
          <a:p>
            <a:br>
              <a:rPr lang="ko-KR" altLang="en-US" sz="4000" dirty="0">
                <a:solidFill>
                  <a:schemeClr val="bg1"/>
                </a:solidFill>
              </a:rPr>
            </a:br>
            <a:endParaRPr lang="ko-KR" altLang="en-US" sz="4000" dirty="0">
              <a:solidFill>
                <a:schemeClr val="bg1"/>
              </a:solidFill>
            </a:endParaRPr>
          </a:p>
          <a:p>
            <a:r>
              <a:rPr lang="ko-KR" altLang="en-US" sz="4000" b="1" dirty="0" err="1">
                <a:solidFill>
                  <a:schemeClr val="bg1"/>
                </a:solidFill>
              </a:rPr>
              <a:t>拡張性</a:t>
            </a:r>
            <a:r>
              <a:rPr lang="ko-KR" altLang="en-US" sz="4000" b="1" dirty="0">
                <a:solidFill>
                  <a:schemeClr val="bg1"/>
                </a:solidFill>
              </a:rPr>
              <a:t>（</a:t>
            </a:r>
            <a:r>
              <a:rPr lang="en" altLang="ko-KR" sz="4000" b="1" dirty="0">
                <a:solidFill>
                  <a:schemeClr val="bg1"/>
                </a:solidFill>
              </a:rPr>
              <a:t>Scalability</a:t>
            </a:r>
            <a:r>
              <a:rPr lang="ko-KR" altLang="en" sz="4000" b="1" dirty="0">
                <a:solidFill>
                  <a:schemeClr val="bg1"/>
                </a:solidFill>
              </a:rPr>
              <a:t>）</a:t>
            </a:r>
            <a:endParaRPr lang="en" altLang="ko-KR" sz="4000" dirty="0">
              <a:solidFill>
                <a:schemeClr val="bg1"/>
              </a:solidFill>
            </a:endParaRPr>
          </a:p>
          <a:p>
            <a:r>
              <a:rPr lang="ko-KR" altLang="en" sz="4000" dirty="0">
                <a:solidFill>
                  <a:schemeClr val="bg1"/>
                </a:solidFill>
              </a:rPr>
              <a:t>・</a:t>
            </a:r>
            <a:r>
              <a:rPr lang="ko-KR" altLang="en-US" sz="4000" dirty="0" err="1">
                <a:solidFill>
                  <a:schemeClr val="bg1"/>
                </a:solidFill>
              </a:rPr>
              <a:t>新規</a:t>
            </a:r>
            <a:r>
              <a:rPr lang="ja-JP" altLang="en-US" sz="4000">
                <a:solidFill>
                  <a:schemeClr val="bg1"/>
                </a:solidFill>
              </a:rPr>
              <a:t>アンケートデータ</a:t>
            </a:r>
            <a:r>
              <a:rPr lang="ko-KR" altLang="en-US" sz="4000">
                <a:solidFill>
                  <a:schemeClr val="bg1"/>
                </a:solidFill>
              </a:rPr>
              <a:t>追加</a:t>
            </a:r>
            <a:r>
              <a:rPr lang="ja-JP" altLang="en-US" sz="4000">
                <a:solidFill>
                  <a:schemeClr val="bg1"/>
                </a:solidFill>
              </a:rPr>
              <a:t>への</a:t>
            </a:r>
            <a:r>
              <a:rPr lang="ko-KR" altLang="en-US" sz="4000">
                <a:solidFill>
                  <a:schemeClr val="bg1"/>
                </a:solidFill>
              </a:rPr>
              <a:t>即時対応</a:t>
            </a:r>
          </a:p>
          <a:p>
            <a:r>
              <a:rPr lang="ko-KR" altLang="en-US" sz="4000" dirty="0">
                <a:solidFill>
                  <a:schemeClr val="bg1"/>
                </a:solidFill>
              </a:rPr>
              <a:t>・</a:t>
            </a:r>
            <a:r>
              <a:rPr lang="ko-KR" altLang="en-US" sz="4000" dirty="0" err="1">
                <a:solidFill>
                  <a:schemeClr val="bg1"/>
                </a:solidFill>
              </a:rPr>
              <a:t>他都市</a:t>
            </a:r>
            <a:r>
              <a:rPr lang="ja-JP" altLang="en-US" sz="4000">
                <a:solidFill>
                  <a:schemeClr val="bg1"/>
                </a:solidFill>
              </a:rPr>
              <a:t>データへの</a:t>
            </a:r>
            <a:r>
              <a:rPr lang="ko-KR" altLang="en-US" sz="4000">
                <a:solidFill>
                  <a:schemeClr val="bg1"/>
                </a:solidFill>
              </a:rPr>
              <a:t>横展開可能</a:t>
            </a:r>
            <a:r>
              <a:rPr lang="ja-JP" altLang="en-US" sz="4000">
                <a:solidFill>
                  <a:schemeClr val="bg1"/>
                </a:solidFill>
              </a:rPr>
              <a:t>な</a:t>
            </a:r>
            <a:r>
              <a:rPr lang="ko-KR" altLang="en-US" sz="4000">
                <a:solidFill>
                  <a:schemeClr val="bg1"/>
                </a:solidFill>
              </a:rPr>
              <a:t>分析</a:t>
            </a:r>
            <a:r>
              <a:rPr lang="ja-JP" altLang="en-US" sz="4000">
                <a:solidFill>
                  <a:schemeClr val="bg1"/>
                </a:solidFill>
              </a:rPr>
              <a:t>ロジック</a:t>
            </a:r>
            <a:r>
              <a:rPr lang="ko-KR" altLang="en-US" sz="4000">
                <a:solidFill>
                  <a:schemeClr val="bg1"/>
                </a:solidFill>
              </a:rPr>
              <a:t>設計</a:t>
            </a:r>
          </a:p>
        </p:txBody>
      </p:sp>
    </p:spTree>
    <p:extLst>
      <p:ext uri="{BB962C8B-B14F-4D97-AF65-F5344CB8AC3E}">
        <p14:creationId xmlns:p14="http://schemas.microsoft.com/office/powerpoint/2010/main" val="3689733479"/>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2A6C"/>
        </a:solidFill>
        <a:effectLst/>
      </p:bgPr>
    </p:bg>
    <p:spTree>
      <p:nvGrpSpPr>
        <p:cNvPr id="1" name="">
          <a:extLst>
            <a:ext uri="{FF2B5EF4-FFF2-40B4-BE49-F238E27FC236}">
              <a16:creationId xmlns:a16="http://schemas.microsoft.com/office/drawing/2014/main" id="{2AB13CB8-3D26-187C-0014-2D578F1C7261}"/>
            </a:ext>
          </a:extLst>
        </p:cNvPr>
        <p:cNvGrpSpPr/>
        <p:nvPr/>
      </p:nvGrpSpPr>
      <p:grpSpPr>
        <a:xfrm>
          <a:off x="0" y="0"/>
          <a:ext cx="0" cy="0"/>
          <a:chOff x="0" y="0"/>
          <a:chExt cx="0" cy="0"/>
        </a:xfrm>
      </p:grpSpPr>
      <p:sp>
        <p:nvSpPr>
          <p:cNvPr id="4" name="TextBox 4">
            <a:extLst>
              <a:ext uri="{FF2B5EF4-FFF2-40B4-BE49-F238E27FC236}">
                <a16:creationId xmlns:a16="http://schemas.microsoft.com/office/drawing/2014/main" id="{7F38C101-FF41-572B-A5EC-D12C8920CB6A}"/>
              </a:ext>
            </a:extLst>
          </p:cNvPr>
          <p:cNvSpPr txBox="1"/>
          <p:nvPr/>
        </p:nvSpPr>
        <p:spPr>
          <a:xfrm>
            <a:off x="878541" y="3068955"/>
            <a:ext cx="15925800" cy="6894195"/>
          </a:xfrm>
          <a:prstGeom prst="rect">
            <a:avLst/>
          </a:prstGeom>
        </p:spPr>
        <p:txBody>
          <a:bodyPr wrap="square" lIns="0" tIns="0" rIns="0" bIns="0" rtlCol="0" anchor="t">
            <a:spAutoFit/>
          </a:bodyPr>
          <a:lstStyle/>
          <a:p>
            <a:r>
              <a:rPr lang="en-US" altLang="ko-KR" sz="3200" b="1" dirty="0">
                <a:solidFill>
                  <a:schemeClr val="bg1"/>
                </a:solidFill>
              </a:rPr>
              <a:t>1. </a:t>
            </a:r>
            <a:r>
              <a:rPr lang="ko-KR" altLang="en-US" sz="3200" b="1" dirty="0" err="1">
                <a:solidFill>
                  <a:schemeClr val="bg1"/>
                </a:solidFill>
              </a:rPr>
              <a:t>初期</a:t>
            </a:r>
            <a:r>
              <a:rPr lang="ja-JP" altLang="en-US" sz="3200" b="1">
                <a:solidFill>
                  <a:schemeClr val="bg1"/>
                </a:solidFill>
              </a:rPr>
              <a:t>ロジックの</a:t>
            </a:r>
            <a:r>
              <a:rPr lang="ko-KR" altLang="en-US" sz="3200" b="1">
                <a:solidFill>
                  <a:schemeClr val="bg1"/>
                </a:solidFill>
              </a:rPr>
              <a:t>限界</a:t>
            </a:r>
            <a:r>
              <a:rPr lang="ja-JP" altLang="en-US" sz="3200" b="1">
                <a:solidFill>
                  <a:schemeClr val="bg1"/>
                </a:solidFill>
              </a:rPr>
              <a:t>と</a:t>
            </a:r>
            <a:r>
              <a:rPr lang="ko-KR" altLang="en-US" sz="3200" b="1">
                <a:solidFill>
                  <a:schemeClr val="bg1"/>
                </a:solidFill>
              </a:rPr>
              <a:t>問題発見</a:t>
            </a:r>
          </a:p>
          <a:p>
            <a:r>
              <a:rPr lang="ko-KR" altLang="en-US" sz="3200" b="1" dirty="0" err="1">
                <a:solidFill>
                  <a:schemeClr val="bg1"/>
                </a:solidFill>
              </a:rPr>
              <a:t>初期定義</a:t>
            </a:r>
            <a:r>
              <a:rPr lang="ja-JP" altLang="en-US" sz="3200" b="1">
                <a:solidFill>
                  <a:schemeClr val="bg1"/>
                </a:solidFill>
              </a:rPr>
              <a:t>　</a:t>
            </a:r>
            <a:r>
              <a:rPr lang="en-US" altLang="ko-KR" sz="3200" b="1" dirty="0">
                <a:solidFill>
                  <a:schemeClr val="bg1"/>
                </a:solidFill>
              </a:rPr>
              <a:t>:</a:t>
            </a:r>
            <a:r>
              <a:rPr lang="ja-JP" altLang="en-US" sz="3200" b="1">
                <a:solidFill>
                  <a:schemeClr val="bg1"/>
                </a:solidFill>
              </a:rPr>
              <a:t>　</a:t>
            </a:r>
            <a:r>
              <a:rPr lang="ko-KR" altLang="en-US" sz="3200" b="1">
                <a:solidFill>
                  <a:schemeClr val="bg1"/>
                </a:solidFill>
              </a:rPr>
              <a:t> </a:t>
            </a:r>
            <a:r>
              <a:rPr lang="ko-KR" altLang="en-US" sz="3200" dirty="0" err="1">
                <a:solidFill>
                  <a:schemeClr val="bg1"/>
                </a:solidFill>
              </a:rPr>
              <a:t>知名度</a:t>
            </a:r>
            <a:r>
              <a:rPr lang="ko-KR" altLang="en-US" sz="3200" dirty="0">
                <a:solidFill>
                  <a:schemeClr val="bg1"/>
                </a:solidFill>
              </a:rPr>
              <a:t>（</a:t>
            </a:r>
            <a:r>
              <a:rPr lang="en" altLang="ko-KR" sz="3200" dirty="0">
                <a:solidFill>
                  <a:schemeClr val="bg1"/>
                </a:solidFill>
              </a:rPr>
              <a:t>Google </a:t>
            </a:r>
            <a:r>
              <a:rPr lang="ko-KR" altLang="en-US" sz="3200" dirty="0" err="1">
                <a:solidFill>
                  <a:schemeClr val="bg1"/>
                </a:solidFill>
              </a:rPr>
              <a:t>検索量</a:t>
            </a:r>
            <a:r>
              <a:rPr lang="ko-KR" altLang="en-US" sz="3200" dirty="0">
                <a:solidFill>
                  <a:schemeClr val="bg1"/>
                </a:solidFill>
              </a:rPr>
              <a:t>）</a:t>
            </a:r>
            <a:r>
              <a:rPr lang="ja-JP" altLang="en-US" sz="3200">
                <a:solidFill>
                  <a:schemeClr val="bg1"/>
                </a:solidFill>
              </a:rPr>
              <a:t>のみを</a:t>
            </a:r>
            <a:r>
              <a:rPr lang="ko-KR" altLang="en-US" sz="3200">
                <a:solidFill>
                  <a:schemeClr val="bg1"/>
                </a:solidFill>
              </a:rPr>
              <a:t>距離計算指標</a:t>
            </a:r>
            <a:r>
              <a:rPr lang="ja-JP" altLang="en-US" sz="3200">
                <a:solidFill>
                  <a:schemeClr val="bg1"/>
                </a:solidFill>
              </a:rPr>
              <a:t>として</a:t>
            </a:r>
            <a:r>
              <a:rPr lang="ko-KR" altLang="en-US" sz="3200">
                <a:solidFill>
                  <a:schemeClr val="bg1"/>
                </a:solidFill>
              </a:rPr>
              <a:t>使用</a:t>
            </a:r>
          </a:p>
          <a:p>
            <a:r>
              <a:rPr lang="ko-KR" altLang="en-US" sz="3200" b="1" dirty="0" err="1">
                <a:solidFill>
                  <a:schemeClr val="bg1"/>
                </a:solidFill>
              </a:rPr>
              <a:t>偏</a:t>
            </a:r>
            <a:r>
              <a:rPr lang="ja-JP" altLang="en-US" sz="3200" b="1">
                <a:solidFill>
                  <a:schemeClr val="bg1"/>
                </a:solidFill>
              </a:rPr>
              <a:t>りの</a:t>
            </a:r>
            <a:r>
              <a:rPr lang="ko-KR" altLang="en-US" sz="3200" b="1">
                <a:solidFill>
                  <a:schemeClr val="bg1"/>
                </a:solidFill>
              </a:rPr>
              <a:t>発生</a:t>
            </a:r>
            <a:r>
              <a:rPr lang="ja-JP" altLang="en-US" sz="3200" b="1">
                <a:solidFill>
                  <a:schemeClr val="bg1"/>
                </a:solidFill>
              </a:rPr>
              <a:t>　</a:t>
            </a:r>
            <a:r>
              <a:rPr lang="en-US" altLang="ko-KR" sz="3200" b="1" dirty="0">
                <a:solidFill>
                  <a:schemeClr val="bg1"/>
                </a:solidFill>
              </a:rPr>
              <a:t>:</a:t>
            </a:r>
            <a:r>
              <a:rPr lang="ko-KR" altLang="en-US" sz="3200" b="1" dirty="0">
                <a:solidFill>
                  <a:schemeClr val="bg1"/>
                </a:solidFill>
              </a:rPr>
              <a:t> </a:t>
            </a:r>
            <a:r>
              <a:rPr lang="ko-KR" altLang="en-US" sz="3200" dirty="0">
                <a:solidFill>
                  <a:schemeClr val="bg1"/>
                </a:solidFill>
              </a:rPr>
              <a:t>・</a:t>
            </a:r>
            <a:r>
              <a:rPr lang="ja-JP" altLang="en-US" sz="3200">
                <a:solidFill>
                  <a:schemeClr val="bg1"/>
                </a:solidFill>
              </a:rPr>
              <a:t>　</a:t>
            </a:r>
            <a:r>
              <a:rPr lang="ko-KR" altLang="en-US" sz="3200">
                <a:solidFill>
                  <a:schemeClr val="bg1"/>
                </a:solidFill>
              </a:rPr>
              <a:t>検索量</a:t>
            </a:r>
            <a:r>
              <a:rPr lang="ja-JP" altLang="en-US" sz="3200">
                <a:solidFill>
                  <a:schemeClr val="bg1"/>
                </a:solidFill>
              </a:rPr>
              <a:t>が</a:t>
            </a:r>
            <a:r>
              <a:rPr lang="ko-KR" altLang="en-US" sz="3200">
                <a:solidFill>
                  <a:schemeClr val="bg1"/>
                </a:solidFill>
              </a:rPr>
              <a:t>多</a:t>
            </a:r>
            <a:r>
              <a:rPr lang="ja-JP" altLang="en-US" sz="3200">
                <a:solidFill>
                  <a:schemeClr val="bg1"/>
                </a:solidFill>
              </a:rPr>
              <a:t>い</a:t>
            </a:r>
            <a:r>
              <a:rPr lang="ko-KR" altLang="en-US" sz="3200">
                <a:solidFill>
                  <a:schemeClr val="bg1"/>
                </a:solidFill>
              </a:rPr>
              <a:t>地点</a:t>
            </a:r>
            <a:r>
              <a:rPr lang="ja-JP" altLang="en-US" sz="3200">
                <a:solidFill>
                  <a:schemeClr val="bg1"/>
                </a:solidFill>
              </a:rPr>
              <a:t>が、</a:t>
            </a:r>
            <a:r>
              <a:rPr lang="ko-KR" altLang="en-US" sz="3200">
                <a:solidFill>
                  <a:schemeClr val="bg1"/>
                </a:solidFill>
              </a:rPr>
              <a:t>実投票数</a:t>
            </a:r>
            <a:r>
              <a:rPr lang="ja-JP" altLang="en-US" sz="3200">
                <a:solidFill>
                  <a:schemeClr val="bg1"/>
                </a:solidFill>
              </a:rPr>
              <a:t>と</a:t>
            </a:r>
            <a:r>
              <a:rPr lang="ko-KR" altLang="en-US" sz="3200">
                <a:solidFill>
                  <a:schemeClr val="bg1"/>
                </a:solidFill>
              </a:rPr>
              <a:t>無関係</a:t>
            </a:r>
            <a:r>
              <a:rPr lang="ja-JP" altLang="en-US" sz="3200">
                <a:solidFill>
                  <a:schemeClr val="bg1"/>
                </a:solidFill>
              </a:rPr>
              <a:t>に</a:t>
            </a:r>
            <a:r>
              <a:rPr lang="ko-KR" altLang="en-US" sz="3200">
                <a:solidFill>
                  <a:schemeClr val="bg1"/>
                </a:solidFill>
              </a:rPr>
              <a:t>中心</a:t>
            </a:r>
            <a:r>
              <a:rPr lang="ja-JP" altLang="en-US" sz="3200">
                <a:solidFill>
                  <a:schemeClr val="bg1"/>
                </a:solidFill>
              </a:rPr>
              <a:t>へ</a:t>
            </a:r>
            <a:r>
              <a:rPr lang="ko-KR" altLang="en-US" sz="3200">
                <a:solidFill>
                  <a:schemeClr val="bg1"/>
                </a:solidFill>
              </a:rPr>
              <a:t>配置</a:t>
            </a:r>
            <a:r>
              <a:rPr lang="ja-JP" altLang="en-US" sz="3200">
                <a:solidFill>
                  <a:schemeClr val="bg1"/>
                </a:solidFill>
              </a:rPr>
              <a:t>される</a:t>
            </a:r>
            <a:r>
              <a:rPr lang="ko-KR" altLang="en-US" sz="3200">
                <a:solidFill>
                  <a:schemeClr val="bg1"/>
                </a:solidFill>
              </a:rPr>
              <a:t>歪</a:t>
            </a:r>
            <a:r>
              <a:rPr lang="ja-JP" altLang="en-US" sz="3200">
                <a:solidFill>
                  <a:schemeClr val="bg1"/>
                </a:solidFill>
              </a:rPr>
              <a:t>み</a:t>
            </a:r>
            <a:r>
              <a:rPr lang="ko-KR" altLang="en-US" sz="3200">
                <a:solidFill>
                  <a:schemeClr val="bg1"/>
                </a:solidFill>
              </a:rPr>
              <a:t>発生</a:t>
            </a:r>
            <a:endParaRPr lang="ko-KR" altLang="en-US" sz="3200" dirty="0">
              <a:solidFill>
                <a:schemeClr val="bg1"/>
              </a:solidFill>
            </a:endParaRPr>
          </a:p>
          <a:p>
            <a:r>
              <a:rPr lang="ja-JP" altLang="en-US" sz="3200" b="1">
                <a:solidFill>
                  <a:schemeClr val="bg1"/>
                </a:solidFill>
              </a:rPr>
              <a:t>ケーススタディ　</a:t>
            </a:r>
            <a:r>
              <a:rPr lang="en-US" altLang="ko-KR" sz="3200" b="1" dirty="0">
                <a:solidFill>
                  <a:schemeClr val="bg1"/>
                </a:solidFill>
              </a:rPr>
              <a:t>:</a:t>
            </a:r>
            <a:r>
              <a:rPr lang="ko-KR" altLang="en-US" sz="3200" b="1" dirty="0">
                <a:solidFill>
                  <a:schemeClr val="bg1"/>
                </a:solidFill>
              </a:rPr>
              <a:t> </a:t>
            </a:r>
            <a:r>
              <a:rPr lang="ja-JP" altLang="en-US" sz="3200" b="1">
                <a:solidFill>
                  <a:schemeClr val="bg1"/>
                </a:solidFill>
              </a:rPr>
              <a:t>　</a:t>
            </a:r>
            <a:r>
              <a:rPr lang="ko-KR" altLang="en-US" sz="3200">
                <a:solidFill>
                  <a:schemeClr val="bg1"/>
                </a:solidFill>
              </a:rPr>
              <a:t>仁川</a:t>
            </a:r>
            <a:r>
              <a:rPr lang="ko-KR" altLang="en-US" sz="3200" dirty="0" err="1">
                <a:solidFill>
                  <a:schemeClr val="bg1"/>
                </a:solidFill>
              </a:rPr>
              <a:t>（投票数</a:t>
            </a:r>
            <a:r>
              <a:rPr lang="ko-KR" altLang="en-US" sz="3200" dirty="0">
                <a:solidFill>
                  <a:schemeClr val="bg1"/>
                </a:solidFill>
              </a:rPr>
              <a:t> </a:t>
            </a:r>
            <a:r>
              <a:rPr lang="en-US" altLang="ko-KR" sz="3200" dirty="0">
                <a:solidFill>
                  <a:schemeClr val="bg1"/>
                </a:solidFill>
              </a:rPr>
              <a:t>1</a:t>
            </a:r>
            <a:r>
              <a:rPr lang="ko-KR" altLang="en-US" sz="3200" dirty="0">
                <a:solidFill>
                  <a:schemeClr val="bg1"/>
                </a:solidFill>
              </a:rPr>
              <a:t>・</a:t>
            </a:r>
            <a:r>
              <a:rPr lang="ko-KR" altLang="en-US" sz="3200" dirty="0" err="1">
                <a:solidFill>
                  <a:schemeClr val="bg1"/>
                </a:solidFill>
              </a:rPr>
              <a:t>検索量</a:t>
            </a:r>
            <a:r>
              <a:rPr lang="ko-KR" altLang="en-US" sz="3200" dirty="0">
                <a:solidFill>
                  <a:schemeClr val="bg1"/>
                </a:solidFill>
              </a:rPr>
              <a:t> </a:t>
            </a:r>
            <a:r>
              <a:rPr lang="ko-KR" altLang="en-US" sz="3200" dirty="0" err="1">
                <a:solidFill>
                  <a:schemeClr val="bg1"/>
                </a:solidFill>
              </a:rPr>
              <a:t>高</a:t>
            </a:r>
            <a:r>
              <a:rPr lang="ko-KR" altLang="en-US" sz="3200" dirty="0">
                <a:solidFill>
                  <a:schemeClr val="bg1"/>
                </a:solidFill>
              </a:rPr>
              <a:t>）</a:t>
            </a:r>
            <a:r>
              <a:rPr lang="ja-JP" altLang="en-US" sz="3200">
                <a:solidFill>
                  <a:schemeClr val="bg1"/>
                </a:solidFill>
              </a:rPr>
              <a:t>が</a:t>
            </a:r>
            <a:r>
              <a:rPr lang="ko-KR" altLang="en-US" sz="3200">
                <a:solidFill>
                  <a:schemeClr val="bg1"/>
                </a:solidFill>
              </a:rPr>
              <a:t> 江南（投票数</a:t>
            </a:r>
            <a:r>
              <a:rPr lang="ko-KR" altLang="en-US" sz="3200" dirty="0">
                <a:solidFill>
                  <a:schemeClr val="bg1"/>
                </a:solidFill>
              </a:rPr>
              <a:t> </a:t>
            </a:r>
            <a:r>
              <a:rPr lang="en-US" altLang="ko-KR" sz="3200" dirty="0">
                <a:solidFill>
                  <a:schemeClr val="bg1"/>
                </a:solidFill>
              </a:rPr>
              <a:t>4</a:t>
            </a:r>
            <a:r>
              <a:rPr lang="ko-KR" altLang="en-US" sz="3200" dirty="0">
                <a:solidFill>
                  <a:schemeClr val="bg1"/>
                </a:solidFill>
              </a:rPr>
              <a:t>・</a:t>
            </a:r>
            <a:r>
              <a:rPr lang="ko-KR" altLang="en-US" sz="3200" dirty="0" err="1">
                <a:solidFill>
                  <a:schemeClr val="bg1"/>
                </a:solidFill>
              </a:rPr>
              <a:t>検索量</a:t>
            </a:r>
            <a:r>
              <a:rPr lang="ko-KR" altLang="en-US" sz="3200" dirty="0">
                <a:solidFill>
                  <a:schemeClr val="bg1"/>
                </a:solidFill>
              </a:rPr>
              <a:t> </a:t>
            </a:r>
            <a:r>
              <a:rPr lang="ko-KR" altLang="en-US" sz="3200" dirty="0" err="1">
                <a:solidFill>
                  <a:schemeClr val="bg1"/>
                </a:solidFill>
              </a:rPr>
              <a:t>低</a:t>
            </a:r>
            <a:r>
              <a:rPr lang="ko-KR" altLang="en-US" sz="3200" dirty="0">
                <a:solidFill>
                  <a:schemeClr val="bg1"/>
                </a:solidFill>
              </a:rPr>
              <a:t>）</a:t>
            </a:r>
            <a:r>
              <a:rPr lang="ja-JP" altLang="en-US" sz="3200">
                <a:solidFill>
                  <a:schemeClr val="bg1"/>
                </a:solidFill>
              </a:rPr>
              <a:t>より</a:t>
            </a:r>
            <a:r>
              <a:rPr lang="ko-KR" altLang="en-US" sz="3200">
                <a:solidFill>
                  <a:schemeClr val="bg1"/>
                </a:solidFill>
              </a:rPr>
              <a:t>高評価</a:t>
            </a:r>
            <a:endParaRPr lang="en-US" altLang="ko-KR" sz="3200" dirty="0">
              <a:solidFill>
                <a:schemeClr val="bg1"/>
              </a:solidFill>
            </a:endParaRPr>
          </a:p>
          <a:p>
            <a:r>
              <a:rPr lang="ja-JP" altLang="en-US" sz="3200">
                <a:solidFill>
                  <a:schemeClr val="bg1"/>
                </a:solidFill>
              </a:rPr>
              <a:t>　　　　　　　　　　　　となる</a:t>
            </a:r>
            <a:r>
              <a:rPr lang="ko-KR" altLang="en-US" sz="3200">
                <a:solidFill>
                  <a:schemeClr val="bg1"/>
                </a:solidFill>
              </a:rPr>
              <a:t>不整合</a:t>
            </a:r>
            <a:r>
              <a:rPr lang="ja-JP" altLang="en-US" sz="3200">
                <a:solidFill>
                  <a:schemeClr val="bg1"/>
                </a:solidFill>
              </a:rPr>
              <a:t>を</a:t>
            </a:r>
            <a:r>
              <a:rPr lang="ko-KR" altLang="en-US" sz="3200">
                <a:solidFill>
                  <a:schemeClr val="bg1"/>
                </a:solidFill>
              </a:rPr>
              <a:t>確認</a:t>
            </a:r>
          </a:p>
          <a:p>
            <a:br>
              <a:rPr lang="ko-KR" altLang="en-US" sz="3200" dirty="0">
                <a:solidFill>
                  <a:schemeClr val="bg1"/>
                </a:solidFill>
              </a:rPr>
            </a:br>
            <a:endParaRPr lang="ko-KR" altLang="en-US" sz="3200" dirty="0">
              <a:solidFill>
                <a:schemeClr val="bg1"/>
              </a:solidFill>
            </a:endParaRPr>
          </a:p>
          <a:p>
            <a:r>
              <a:rPr lang="en-US" altLang="ko-KR" sz="3200" b="1" dirty="0">
                <a:solidFill>
                  <a:schemeClr val="bg1"/>
                </a:solidFill>
              </a:rPr>
              <a:t>2. </a:t>
            </a:r>
            <a:r>
              <a:rPr lang="ko-KR" altLang="en-US" sz="3200" b="1" dirty="0" err="1">
                <a:solidFill>
                  <a:schemeClr val="bg1"/>
                </a:solidFill>
              </a:rPr>
              <a:t>改善</a:t>
            </a:r>
            <a:r>
              <a:rPr lang="ja-JP" altLang="en-US" sz="3200" b="1">
                <a:solidFill>
                  <a:schemeClr val="bg1"/>
                </a:solidFill>
              </a:rPr>
              <a:t>されたアルゴリズム：</a:t>
            </a:r>
            <a:r>
              <a:rPr lang="ko-KR" altLang="en-US" sz="3200" b="1">
                <a:solidFill>
                  <a:schemeClr val="bg1"/>
                </a:solidFill>
              </a:rPr>
              <a:t>投票優先重</a:t>
            </a:r>
            <a:r>
              <a:rPr lang="ja-JP" altLang="en-US" sz="3200" b="1">
                <a:solidFill>
                  <a:schemeClr val="bg1"/>
                </a:solidFill>
              </a:rPr>
              <a:t>み</a:t>
            </a:r>
            <a:r>
              <a:rPr lang="ko-KR" altLang="en-US" sz="3200" b="1">
                <a:solidFill>
                  <a:schemeClr val="bg1"/>
                </a:solidFill>
              </a:rPr>
              <a:t>付</a:t>
            </a:r>
            <a:r>
              <a:rPr lang="ja-JP" altLang="en-US" sz="3200" b="1">
                <a:solidFill>
                  <a:schemeClr val="bg1"/>
                </a:solidFill>
              </a:rPr>
              <a:t>け</a:t>
            </a:r>
            <a:endParaRPr lang="ja-JP" altLang="en-US" sz="3200">
              <a:solidFill>
                <a:schemeClr val="bg1"/>
              </a:solidFill>
            </a:endParaRPr>
          </a:p>
          <a:p>
            <a:r>
              <a:rPr lang="ko-KR" altLang="en-US" sz="3200" b="1" dirty="0" err="1">
                <a:solidFill>
                  <a:schemeClr val="bg1"/>
                </a:solidFill>
              </a:rPr>
              <a:t>投票</a:t>
            </a:r>
            <a:r>
              <a:rPr lang="ja-JP" altLang="en-US" sz="3200" b="1">
                <a:solidFill>
                  <a:schemeClr val="bg1"/>
                </a:solidFill>
              </a:rPr>
              <a:t>ボーナスの</a:t>
            </a:r>
            <a:r>
              <a:rPr lang="ko-KR" altLang="en-US" sz="3200" b="1">
                <a:solidFill>
                  <a:schemeClr val="bg1"/>
                </a:solidFill>
              </a:rPr>
              <a:t>導入</a:t>
            </a:r>
            <a:r>
              <a:rPr lang="ja-JP" altLang="en-US" sz="3200" b="1">
                <a:solidFill>
                  <a:schemeClr val="bg1"/>
                </a:solidFill>
              </a:rPr>
              <a:t>　</a:t>
            </a:r>
            <a:r>
              <a:rPr lang="en-US" altLang="ko-KR" sz="3200" b="1" dirty="0">
                <a:solidFill>
                  <a:schemeClr val="bg1"/>
                </a:solidFill>
              </a:rPr>
              <a:t>:</a:t>
            </a:r>
            <a:r>
              <a:rPr lang="ko-KR" altLang="en-US" sz="3200" b="1" dirty="0">
                <a:solidFill>
                  <a:schemeClr val="bg1"/>
                </a:solidFill>
              </a:rPr>
              <a:t> </a:t>
            </a:r>
            <a:r>
              <a:rPr lang="ja-JP" altLang="en-US" sz="3200" b="1">
                <a:solidFill>
                  <a:schemeClr val="bg1"/>
                </a:solidFill>
              </a:rPr>
              <a:t>　</a:t>
            </a:r>
            <a:r>
              <a:rPr lang="ko-KR" altLang="en-US" sz="3200">
                <a:solidFill>
                  <a:schemeClr val="bg1"/>
                </a:solidFill>
              </a:rPr>
              <a:t>投票数</a:t>
            </a:r>
            <a:r>
              <a:rPr lang="ko-KR" altLang="en-US" sz="3200" dirty="0">
                <a:solidFill>
                  <a:schemeClr val="bg1"/>
                </a:solidFill>
              </a:rPr>
              <a:t>（</a:t>
            </a:r>
            <a:r>
              <a:rPr lang="en" altLang="ko-KR" sz="3200" dirty="0">
                <a:solidFill>
                  <a:schemeClr val="bg1"/>
                </a:solidFill>
              </a:rPr>
              <a:t>Votes</a:t>
            </a:r>
            <a:r>
              <a:rPr lang="ko-KR" altLang="en" sz="3200" dirty="0">
                <a:solidFill>
                  <a:schemeClr val="bg1"/>
                </a:solidFill>
              </a:rPr>
              <a:t>）</a:t>
            </a:r>
            <a:r>
              <a:rPr lang="ja-JP" altLang="en-US" sz="3200">
                <a:solidFill>
                  <a:schemeClr val="bg1"/>
                </a:solidFill>
              </a:rPr>
              <a:t>を</a:t>
            </a:r>
            <a:r>
              <a:rPr lang="ko-KR" altLang="en-US" sz="3200">
                <a:solidFill>
                  <a:schemeClr val="bg1"/>
                </a:solidFill>
              </a:rPr>
              <a:t>最優先指標</a:t>
            </a:r>
            <a:r>
              <a:rPr lang="ja-JP" altLang="en-US" sz="3200">
                <a:solidFill>
                  <a:schemeClr val="bg1"/>
                </a:solidFill>
              </a:rPr>
              <a:t>として</a:t>
            </a:r>
            <a:r>
              <a:rPr lang="ko-KR" altLang="en-US" sz="3200">
                <a:solidFill>
                  <a:schemeClr val="bg1"/>
                </a:solidFill>
              </a:rPr>
              <a:t>距離再計算</a:t>
            </a:r>
          </a:p>
          <a:p>
            <a:r>
              <a:rPr lang="ja-JP" altLang="en-US" sz="3200" b="1">
                <a:solidFill>
                  <a:schemeClr val="bg1"/>
                </a:solidFill>
              </a:rPr>
              <a:t>ハイブリッド・スコアリング（</a:t>
            </a:r>
            <a:r>
              <a:rPr lang="en" altLang="ko-KR" sz="3200" b="1" dirty="0">
                <a:solidFill>
                  <a:schemeClr val="bg1"/>
                </a:solidFill>
              </a:rPr>
              <a:t>Hybrid Scoring</a:t>
            </a:r>
            <a:r>
              <a:rPr lang="ko-KR" altLang="en" sz="3200" b="1" dirty="0">
                <a:solidFill>
                  <a:schemeClr val="bg1"/>
                </a:solidFill>
              </a:rPr>
              <a:t>）</a:t>
            </a:r>
            <a:r>
              <a:rPr lang="ja-JP" altLang="en-US" sz="3200" b="1">
                <a:solidFill>
                  <a:schemeClr val="bg1"/>
                </a:solidFill>
              </a:rPr>
              <a:t>　</a:t>
            </a:r>
            <a:r>
              <a:rPr lang="en-US" altLang="ko-KR" sz="3200" b="1" dirty="0">
                <a:solidFill>
                  <a:schemeClr val="bg1"/>
                </a:solidFill>
              </a:rPr>
              <a:t>:</a:t>
            </a:r>
            <a:r>
              <a:rPr lang="ko-KR" altLang="en-US" sz="3200" b="1" dirty="0">
                <a:solidFill>
                  <a:schemeClr val="bg1"/>
                </a:solidFill>
              </a:rPr>
              <a:t> </a:t>
            </a:r>
            <a:r>
              <a:rPr lang="en" altLang="ko-KR" sz="3200" dirty="0">
                <a:solidFill>
                  <a:schemeClr val="bg1"/>
                </a:solidFill>
              </a:rPr>
              <a:t>Distance = Base</a:t>
            </a:r>
            <a:r>
              <a:rPr lang="ko-KR" altLang="en" sz="3200" dirty="0">
                <a:solidFill>
                  <a:schemeClr val="bg1"/>
                </a:solidFill>
              </a:rPr>
              <a:t>（</a:t>
            </a:r>
            <a:r>
              <a:rPr lang="en" altLang="ko-KR" sz="3200" dirty="0">
                <a:solidFill>
                  <a:schemeClr val="bg1"/>
                </a:solidFill>
              </a:rPr>
              <a:t>Search Volume</a:t>
            </a:r>
            <a:r>
              <a:rPr lang="ko-KR" altLang="en" sz="3200" dirty="0">
                <a:solidFill>
                  <a:schemeClr val="bg1"/>
                </a:solidFill>
              </a:rPr>
              <a:t>） −（</a:t>
            </a:r>
            <a:r>
              <a:rPr lang="en" altLang="ko-KR" sz="3200" dirty="0">
                <a:solidFill>
                  <a:schemeClr val="bg1"/>
                </a:solidFill>
              </a:rPr>
              <a:t>Vote Count × 1.5</a:t>
            </a:r>
            <a:r>
              <a:rPr lang="ko-KR" altLang="en" sz="3200" dirty="0">
                <a:solidFill>
                  <a:schemeClr val="bg1"/>
                </a:solidFill>
              </a:rPr>
              <a:t>）</a:t>
            </a:r>
          </a:p>
          <a:p>
            <a:r>
              <a:rPr lang="ko-KR" altLang="en-US" sz="3200" b="1" dirty="0" err="1">
                <a:solidFill>
                  <a:schemeClr val="bg1"/>
                </a:solidFill>
              </a:rPr>
              <a:t>実装結果</a:t>
            </a:r>
            <a:r>
              <a:rPr lang="ja-JP" altLang="en-US" sz="3200" b="1">
                <a:solidFill>
                  <a:schemeClr val="bg1"/>
                </a:solidFill>
              </a:rPr>
              <a:t>　</a:t>
            </a:r>
            <a:r>
              <a:rPr lang="en-US" altLang="ko-KR" sz="3200" b="1" dirty="0">
                <a:solidFill>
                  <a:schemeClr val="bg1"/>
                </a:solidFill>
              </a:rPr>
              <a:t>:</a:t>
            </a:r>
            <a:r>
              <a:rPr lang="ja-JP" altLang="en-US" sz="3200" b="1">
                <a:solidFill>
                  <a:schemeClr val="bg1"/>
                </a:solidFill>
              </a:rPr>
              <a:t>　</a:t>
            </a:r>
            <a:r>
              <a:rPr lang="ko-KR" altLang="en-US" sz="3200" b="1">
                <a:solidFill>
                  <a:schemeClr val="bg1"/>
                </a:solidFill>
              </a:rPr>
              <a:t> </a:t>
            </a:r>
            <a:r>
              <a:rPr lang="ko-KR" altLang="en-US" sz="3200" dirty="0" err="1">
                <a:solidFill>
                  <a:schemeClr val="bg1"/>
                </a:solidFill>
              </a:rPr>
              <a:t>高</a:t>
            </a:r>
            <a:r>
              <a:rPr lang="ja-JP" altLang="en-US" sz="3200">
                <a:solidFill>
                  <a:schemeClr val="bg1"/>
                </a:solidFill>
              </a:rPr>
              <a:t>い</a:t>
            </a:r>
            <a:r>
              <a:rPr lang="ko-KR" altLang="en-US" sz="3200">
                <a:solidFill>
                  <a:schemeClr val="bg1"/>
                </a:solidFill>
              </a:rPr>
              <a:t>知名度</a:t>
            </a:r>
            <a:r>
              <a:rPr lang="ja-JP" altLang="en-US" sz="3200">
                <a:solidFill>
                  <a:schemeClr val="bg1"/>
                </a:solidFill>
              </a:rPr>
              <a:t>を</a:t>
            </a:r>
            <a:r>
              <a:rPr lang="ko-KR" altLang="en-US" sz="3200">
                <a:solidFill>
                  <a:schemeClr val="bg1"/>
                </a:solidFill>
              </a:rPr>
              <a:t>持</a:t>
            </a:r>
            <a:r>
              <a:rPr lang="ja-JP" altLang="en-US" sz="3200">
                <a:solidFill>
                  <a:schemeClr val="bg1"/>
                </a:solidFill>
              </a:rPr>
              <a:t>つ</a:t>
            </a:r>
            <a:r>
              <a:rPr lang="ko-KR" altLang="en-US" sz="3200">
                <a:solidFill>
                  <a:schemeClr val="bg1"/>
                </a:solidFill>
              </a:rPr>
              <a:t>地点</a:t>
            </a:r>
            <a:r>
              <a:rPr lang="ja-JP" altLang="en-US" sz="3200">
                <a:solidFill>
                  <a:schemeClr val="bg1"/>
                </a:solidFill>
              </a:rPr>
              <a:t>でも</a:t>
            </a:r>
            <a:r>
              <a:rPr lang="ko-KR" altLang="en-US" sz="3200">
                <a:solidFill>
                  <a:schemeClr val="bg1"/>
                </a:solidFill>
              </a:rPr>
              <a:t>投票数</a:t>
            </a:r>
            <a:r>
              <a:rPr lang="ja-JP" altLang="en-US" sz="3200">
                <a:solidFill>
                  <a:schemeClr val="bg1"/>
                </a:solidFill>
              </a:rPr>
              <a:t>が</a:t>
            </a:r>
            <a:r>
              <a:rPr lang="ko-KR" altLang="en-US" sz="3200">
                <a:solidFill>
                  <a:schemeClr val="bg1"/>
                </a:solidFill>
              </a:rPr>
              <a:t>少</a:t>
            </a:r>
            <a:r>
              <a:rPr lang="ja-JP" altLang="en-US" sz="3200">
                <a:solidFill>
                  <a:schemeClr val="bg1"/>
                </a:solidFill>
              </a:rPr>
              <a:t>ない</a:t>
            </a:r>
            <a:r>
              <a:rPr lang="ko-KR" altLang="en-US" sz="3200">
                <a:solidFill>
                  <a:schemeClr val="bg1"/>
                </a:solidFill>
              </a:rPr>
              <a:t>場合</a:t>
            </a:r>
            <a:r>
              <a:rPr lang="ja-JP" altLang="en-US" sz="3200">
                <a:solidFill>
                  <a:schemeClr val="bg1"/>
                </a:solidFill>
              </a:rPr>
              <a:t>は</a:t>
            </a:r>
            <a:r>
              <a:rPr lang="ko-KR" altLang="en-US" sz="3200">
                <a:solidFill>
                  <a:schemeClr val="bg1"/>
                </a:solidFill>
              </a:rPr>
              <a:t>中心</a:t>
            </a:r>
            <a:r>
              <a:rPr lang="ja-JP" altLang="en-US" sz="3200">
                <a:solidFill>
                  <a:schemeClr val="bg1"/>
                </a:solidFill>
              </a:rPr>
              <a:t>から</a:t>
            </a:r>
            <a:r>
              <a:rPr lang="ko-KR" altLang="en-US" sz="3200">
                <a:solidFill>
                  <a:schemeClr val="bg1"/>
                </a:solidFill>
              </a:rPr>
              <a:t>後退 実際</a:t>
            </a:r>
            <a:r>
              <a:rPr lang="ja-JP" altLang="en-US" sz="3200">
                <a:solidFill>
                  <a:schemeClr val="bg1"/>
                </a:solidFill>
              </a:rPr>
              <a:t>の</a:t>
            </a:r>
            <a:r>
              <a:rPr lang="ko-KR" altLang="en-US" sz="3200">
                <a:solidFill>
                  <a:schemeClr val="bg1"/>
                </a:solidFill>
              </a:rPr>
              <a:t>選好・</a:t>
            </a:r>
            <a:endParaRPr lang="en-US" altLang="ko-KR" sz="3200" dirty="0">
              <a:solidFill>
                <a:schemeClr val="bg1"/>
              </a:solidFill>
            </a:endParaRPr>
          </a:p>
          <a:p>
            <a:r>
              <a:rPr lang="ja-JP" altLang="en-US" sz="3200">
                <a:solidFill>
                  <a:schemeClr val="bg1"/>
                </a:solidFill>
              </a:rPr>
              <a:t>　　　　　　　　　トレンド</a:t>
            </a:r>
            <a:r>
              <a:rPr lang="ko-KR" altLang="en-US" sz="3200">
                <a:solidFill>
                  <a:schemeClr val="bg1"/>
                </a:solidFill>
              </a:rPr>
              <a:t>反映精度</a:t>
            </a:r>
            <a:r>
              <a:rPr lang="ja-JP" altLang="en-US" sz="3200">
                <a:solidFill>
                  <a:schemeClr val="bg1"/>
                </a:solidFill>
              </a:rPr>
              <a:t>の</a:t>
            </a:r>
            <a:r>
              <a:rPr lang="ko-KR" altLang="en-US" sz="3200">
                <a:solidFill>
                  <a:schemeClr val="bg1"/>
                </a:solidFill>
              </a:rPr>
              <a:t>大幅向上</a:t>
            </a:r>
          </a:p>
          <a:p>
            <a:r>
              <a:rPr lang="ko-KR" altLang="en-US" sz="3200" b="1" dirty="0" err="1">
                <a:solidFill>
                  <a:schemeClr val="bg1"/>
                </a:solidFill>
              </a:rPr>
              <a:t>例外処理</a:t>
            </a:r>
            <a:r>
              <a:rPr lang="ja-JP" altLang="en-US" sz="3200" b="1">
                <a:solidFill>
                  <a:schemeClr val="bg1"/>
                </a:solidFill>
              </a:rPr>
              <a:t>　</a:t>
            </a:r>
            <a:r>
              <a:rPr lang="en-US" altLang="ko-KR" sz="3200" b="1" dirty="0">
                <a:solidFill>
                  <a:schemeClr val="bg1"/>
                </a:solidFill>
              </a:rPr>
              <a:t>:</a:t>
            </a:r>
            <a:r>
              <a:rPr lang="ja-JP" altLang="en-US" sz="3200" b="1">
                <a:solidFill>
                  <a:schemeClr val="bg1"/>
                </a:solidFill>
              </a:rPr>
              <a:t>　</a:t>
            </a:r>
            <a:r>
              <a:rPr lang="ko-KR" altLang="en-US" sz="3200" b="1">
                <a:solidFill>
                  <a:schemeClr val="bg1"/>
                </a:solidFill>
              </a:rPr>
              <a:t> </a:t>
            </a:r>
            <a:r>
              <a:rPr lang="ko-KR" altLang="en-US" sz="3200" dirty="0" err="1">
                <a:solidFill>
                  <a:schemeClr val="bg1"/>
                </a:solidFill>
              </a:rPr>
              <a:t>同一</a:t>
            </a:r>
            <a:r>
              <a:rPr lang="ja-JP" altLang="en-US" sz="3200">
                <a:solidFill>
                  <a:schemeClr val="bg1"/>
                </a:solidFill>
              </a:rPr>
              <a:t>スコア</a:t>
            </a:r>
            <a:r>
              <a:rPr lang="ko-KR" altLang="en-US" sz="3200">
                <a:solidFill>
                  <a:schemeClr val="bg1"/>
                </a:solidFill>
              </a:rPr>
              <a:t>発生時</a:t>
            </a:r>
            <a:r>
              <a:rPr lang="ja-JP" altLang="en-US" sz="3200">
                <a:solidFill>
                  <a:schemeClr val="bg1"/>
                </a:solidFill>
              </a:rPr>
              <a:t>の</a:t>
            </a:r>
            <a:r>
              <a:rPr lang="ko-KR" altLang="en-US" sz="3200">
                <a:solidFill>
                  <a:schemeClr val="bg1"/>
                </a:solidFill>
              </a:rPr>
              <a:t>共同順位（</a:t>
            </a:r>
            <a:r>
              <a:rPr lang="en" altLang="ko-KR" sz="3200" dirty="0">
                <a:solidFill>
                  <a:schemeClr val="bg1"/>
                </a:solidFill>
              </a:rPr>
              <a:t>Joint Rank</a:t>
            </a:r>
            <a:r>
              <a:rPr lang="ko-KR" altLang="en" sz="3200" dirty="0">
                <a:solidFill>
                  <a:schemeClr val="bg1"/>
                </a:solidFill>
              </a:rPr>
              <a:t>）</a:t>
            </a:r>
            <a:r>
              <a:rPr lang="ko-KR" altLang="en-US" sz="3200" dirty="0" err="1">
                <a:solidFill>
                  <a:schemeClr val="bg1"/>
                </a:solidFill>
              </a:rPr>
              <a:t>処理</a:t>
            </a:r>
            <a:r>
              <a:rPr lang="ja-JP" altLang="en-US" sz="3200">
                <a:solidFill>
                  <a:schemeClr val="bg1"/>
                </a:solidFill>
              </a:rPr>
              <a:t>ロジック</a:t>
            </a:r>
            <a:r>
              <a:rPr lang="ko-KR" altLang="en-US" sz="3200">
                <a:solidFill>
                  <a:schemeClr val="bg1"/>
                </a:solidFill>
              </a:rPr>
              <a:t>追加</a:t>
            </a:r>
          </a:p>
        </p:txBody>
      </p:sp>
      <p:sp>
        <p:nvSpPr>
          <p:cNvPr id="5" name="TextBox 5">
            <a:extLst>
              <a:ext uri="{FF2B5EF4-FFF2-40B4-BE49-F238E27FC236}">
                <a16:creationId xmlns:a16="http://schemas.microsoft.com/office/drawing/2014/main" id="{2EAFE241-D2C7-8CDC-E401-3046F0BE474A}"/>
              </a:ext>
            </a:extLst>
          </p:cNvPr>
          <p:cNvSpPr txBox="1"/>
          <p:nvPr/>
        </p:nvSpPr>
        <p:spPr>
          <a:xfrm>
            <a:off x="914400" y="114300"/>
            <a:ext cx="15240000" cy="2954655"/>
          </a:xfrm>
          <a:prstGeom prst="rect">
            <a:avLst/>
          </a:prstGeom>
        </p:spPr>
        <p:txBody>
          <a:bodyPr wrap="square" lIns="0" tIns="0" rIns="0" bIns="0" rtlCol="0" anchor="t">
            <a:spAutoFit/>
          </a:bodyPr>
          <a:lstStyle/>
          <a:p>
            <a:r>
              <a:rPr lang="ja-JP" altLang="en-US" sz="9600" b="1">
                <a:solidFill>
                  <a:schemeClr val="bg1"/>
                </a:solidFill>
              </a:rPr>
              <a:t>スコアリングアルゴリズムの</a:t>
            </a:r>
            <a:r>
              <a:rPr lang="ko-KR" altLang="en-US" sz="9600" b="1">
                <a:solidFill>
                  <a:schemeClr val="bg1"/>
                </a:solidFill>
              </a:rPr>
              <a:t>設計</a:t>
            </a:r>
            <a:r>
              <a:rPr lang="ja-JP" altLang="en-US" sz="9600" b="1">
                <a:solidFill>
                  <a:schemeClr val="bg1"/>
                </a:solidFill>
              </a:rPr>
              <a:t>および</a:t>
            </a:r>
            <a:r>
              <a:rPr lang="ko-KR" altLang="en-US" sz="9600" b="1">
                <a:solidFill>
                  <a:schemeClr val="bg1"/>
                </a:solidFill>
              </a:rPr>
              <a:t>改善</a:t>
            </a:r>
          </a:p>
        </p:txBody>
      </p:sp>
    </p:spTree>
    <p:extLst>
      <p:ext uri="{BB962C8B-B14F-4D97-AF65-F5344CB8AC3E}">
        <p14:creationId xmlns:p14="http://schemas.microsoft.com/office/powerpoint/2010/main" val="2308296710"/>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2A6C"/>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8324850" cy="8953500"/>
            <a:chOff x="0" y="0"/>
            <a:chExt cx="1289737" cy="1387131"/>
          </a:xfrm>
        </p:grpSpPr>
        <p:sp>
          <p:nvSpPr>
            <p:cNvPr id="3" name="Freeform 3"/>
            <p:cNvSpPr/>
            <p:nvPr/>
          </p:nvSpPr>
          <p:spPr>
            <a:xfrm>
              <a:off x="0" y="0"/>
              <a:ext cx="1289737" cy="1387131"/>
            </a:xfrm>
            <a:custGeom>
              <a:avLst/>
              <a:gdLst/>
              <a:ahLst/>
              <a:cxnLst/>
              <a:rect l="l" t="t" r="r" b="b"/>
              <a:pathLst>
                <a:path w="1289737" h="1387131">
                  <a:moveTo>
                    <a:pt x="0" y="0"/>
                  </a:moveTo>
                  <a:lnTo>
                    <a:pt x="1289737" y="0"/>
                  </a:lnTo>
                  <a:lnTo>
                    <a:pt x="1289737" y="1387131"/>
                  </a:lnTo>
                  <a:lnTo>
                    <a:pt x="0" y="1387131"/>
                  </a:lnTo>
                  <a:close/>
                </a:path>
              </a:pathLst>
            </a:custGeom>
            <a:blipFill>
              <a:blip/>
              <a:stretch>
                <a:fillRect l="-3775" r="-3775"/>
              </a:stretch>
            </a:blipFill>
          </p:spPr>
          <p:txBody>
            <a:bodyPr/>
            <a:lstStyle/>
            <a:p>
              <a:endParaRPr lang="ko-KR" altLang="en-US"/>
            </a:p>
          </p:txBody>
        </p:sp>
      </p:grpSp>
      <p:grpSp>
        <p:nvGrpSpPr>
          <p:cNvPr id="4" name="Group 4"/>
          <p:cNvGrpSpPr/>
          <p:nvPr/>
        </p:nvGrpSpPr>
        <p:grpSpPr>
          <a:xfrm>
            <a:off x="10734675" y="2669042"/>
            <a:ext cx="6524625" cy="6652018"/>
            <a:chOff x="0" y="14403"/>
            <a:chExt cx="8699500" cy="8869358"/>
          </a:xfrm>
        </p:grpSpPr>
        <p:sp>
          <p:nvSpPr>
            <p:cNvPr id="5" name="AutoShape 5"/>
            <p:cNvSpPr/>
            <p:nvPr/>
          </p:nvSpPr>
          <p:spPr>
            <a:xfrm>
              <a:off x="0" y="14403"/>
              <a:ext cx="8238599" cy="0"/>
            </a:xfrm>
            <a:prstGeom prst="line">
              <a:avLst/>
            </a:prstGeom>
            <a:ln w="28806" cap="flat">
              <a:solidFill>
                <a:srgbClr val="F3F3F3"/>
              </a:solidFill>
              <a:prstDash val="solid"/>
              <a:headEnd type="none" w="sm" len="sm"/>
              <a:tailEnd type="none" w="sm" len="sm"/>
            </a:ln>
          </p:spPr>
          <p:txBody>
            <a:bodyPr/>
            <a:lstStyle/>
            <a:p>
              <a:endParaRPr lang="ko-KR" altLang="en-US"/>
            </a:p>
          </p:txBody>
        </p:sp>
        <p:sp>
          <p:nvSpPr>
            <p:cNvPr id="6" name="TextBox 6"/>
            <p:cNvSpPr txBox="1"/>
            <p:nvPr/>
          </p:nvSpPr>
          <p:spPr>
            <a:xfrm>
              <a:off x="0" y="310131"/>
              <a:ext cx="8699500" cy="8573630"/>
            </a:xfrm>
            <a:prstGeom prst="rect">
              <a:avLst/>
            </a:prstGeom>
          </p:spPr>
          <p:txBody>
            <a:bodyPr lIns="0" tIns="0" rIns="0" bIns="0" rtlCol="0" anchor="t">
              <a:spAutoFit/>
            </a:bodyPr>
            <a:lstStyle/>
            <a:p>
              <a:pPr marL="0" lvl="0" indent="0" algn="l">
                <a:lnSpc>
                  <a:spcPts val="4199"/>
                </a:lnSpc>
              </a:pPr>
              <a:r>
                <a:rPr lang="en-US" sz="2999" b="1" dirty="0">
                  <a:solidFill>
                    <a:srgbClr val="F3F3F3"/>
                  </a:solidFill>
                  <a:latin typeface="+mn-ea"/>
                  <a:cs typeface="Calibri" panose="020F0502020204030204" pitchFamily="34" charset="0"/>
                  <a:sym typeface="TT Interphases"/>
                </a:rPr>
                <a:t>本発表では、近年の</a:t>
              </a:r>
              <a:r>
                <a:rPr lang="en-US" sz="2999" b="1" u="none" dirty="0">
                  <a:solidFill>
                    <a:srgbClr val="F3F3F3"/>
                  </a:solidFill>
                  <a:latin typeface="+mn-ea"/>
                  <a:cs typeface="Calibri" panose="020F0502020204030204" pitchFamily="34" charset="0"/>
                  <a:sym typeface="TT Interphases"/>
                </a:rPr>
                <a:t>20代は国籍を問わず、男女の嗜好が類似しているのではないか。</a:t>
              </a:r>
            </a:p>
            <a:p>
              <a:pPr marL="0" lvl="0" indent="0" algn="l">
                <a:lnSpc>
                  <a:spcPts val="4199"/>
                </a:lnSpc>
              </a:pPr>
              <a:endParaRPr lang="en-US" sz="2999" b="1" u="none" dirty="0">
                <a:solidFill>
                  <a:srgbClr val="F3F3F3"/>
                </a:solidFill>
                <a:latin typeface="+mn-ea"/>
                <a:cs typeface="Calibri" panose="020F0502020204030204" pitchFamily="34" charset="0"/>
                <a:sym typeface="TT Interphases"/>
              </a:endParaRPr>
            </a:p>
            <a:p>
              <a:pPr marL="0" lvl="0" indent="0" algn="l">
                <a:lnSpc>
                  <a:spcPts val="4199"/>
                </a:lnSpc>
              </a:pPr>
              <a:r>
                <a:rPr lang="en-US" sz="2999" b="1" u="none" dirty="0" err="1">
                  <a:solidFill>
                    <a:srgbClr val="F3F3F3"/>
                  </a:solidFill>
                  <a:latin typeface="+mn-ea"/>
                  <a:cs typeface="Calibri" panose="020F0502020204030204" pitchFamily="34" charset="0"/>
                  <a:sym typeface="TT Interphases"/>
                </a:rPr>
                <a:t>この仮説を検証するため、ソウルおよび東京の人気スポットを分析し、男女それぞれの嗜好を比較する</a:t>
              </a:r>
              <a:r>
                <a:rPr lang="en-US" sz="2999" b="1" u="none" dirty="0">
                  <a:solidFill>
                    <a:srgbClr val="F3F3F3"/>
                  </a:solidFill>
                  <a:latin typeface="+mn-ea"/>
                  <a:cs typeface="Calibri" panose="020F0502020204030204" pitchFamily="34" charset="0"/>
                  <a:sym typeface="TT Interphases"/>
                </a:rPr>
                <a:t>。</a:t>
              </a:r>
            </a:p>
            <a:p>
              <a:pPr marL="0" lvl="0" indent="0" algn="l">
                <a:lnSpc>
                  <a:spcPts val="4199"/>
                </a:lnSpc>
              </a:pPr>
              <a:endParaRPr lang="en-US" sz="2999" b="1" u="none" dirty="0">
                <a:solidFill>
                  <a:srgbClr val="F3F3F3"/>
                </a:solidFill>
                <a:latin typeface="+mn-ea"/>
                <a:cs typeface="Calibri" panose="020F0502020204030204" pitchFamily="34" charset="0"/>
                <a:sym typeface="TT Interphases"/>
              </a:endParaRPr>
            </a:p>
            <a:p>
              <a:pPr marL="0" lvl="0" indent="0" algn="l">
                <a:lnSpc>
                  <a:spcPts val="4199"/>
                </a:lnSpc>
              </a:pPr>
              <a:r>
                <a:rPr lang="en-US" sz="2999" b="1" u="none" dirty="0" err="1">
                  <a:solidFill>
                    <a:srgbClr val="F3F3F3"/>
                  </a:solidFill>
                  <a:latin typeface="+mn-ea"/>
                  <a:cs typeface="Calibri" panose="020F0502020204030204" pitchFamily="34" charset="0"/>
                  <a:sym typeface="TT Interphases"/>
                </a:rPr>
                <a:t>本分析を通じて、旅行者にとって有益な情報をデータに基づいて提供することを目的としている</a:t>
              </a:r>
              <a:r>
                <a:rPr lang="en-US" sz="2999" b="1" u="none" dirty="0">
                  <a:solidFill>
                    <a:srgbClr val="F3F3F3"/>
                  </a:solidFill>
                  <a:latin typeface="+mn-ea"/>
                  <a:cs typeface="Calibri" panose="020F0502020204030204" pitchFamily="34" charset="0"/>
                  <a:sym typeface="TT Interphases"/>
                </a:rPr>
                <a:t>。</a:t>
              </a:r>
            </a:p>
            <a:p>
              <a:pPr marL="0" lvl="0" indent="0" algn="l">
                <a:lnSpc>
                  <a:spcPts val="4199"/>
                </a:lnSpc>
              </a:pPr>
              <a:endParaRPr lang="en-US" sz="2999" b="1" u="none" dirty="0">
                <a:solidFill>
                  <a:srgbClr val="F3F3F3"/>
                </a:solidFill>
                <a:latin typeface="+mn-ea"/>
                <a:cs typeface="Calibri" panose="020F0502020204030204" pitchFamily="34" charset="0"/>
                <a:sym typeface="TT Interphases"/>
              </a:endParaRPr>
            </a:p>
          </p:txBody>
        </p:sp>
      </p:grpSp>
      <p:sp>
        <p:nvSpPr>
          <p:cNvPr id="7" name="TextBox 7"/>
          <p:cNvSpPr txBox="1"/>
          <p:nvPr/>
        </p:nvSpPr>
        <p:spPr>
          <a:xfrm>
            <a:off x="10734675" y="857250"/>
            <a:ext cx="6886575" cy="1330324"/>
          </a:xfrm>
          <a:prstGeom prst="rect">
            <a:avLst/>
          </a:prstGeom>
        </p:spPr>
        <p:txBody>
          <a:bodyPr lIns="0" tIns="0" rIns="0" bIns="0" rtlCol="0" anchor="t">
            <a:spAutoFit/>
          </a:bodyPr>
          <a:lstStyle/>
          <a:p>
            <a:pPr marL="0" lvl="0" indent="0" algn="l">
              <a:lnSpc>
                <a:spcPts val="9999"/>
              </a:lnSpc>
            </a:pPr>
            <a:r>
              <a:rPr lang="en-US" sz="9999" spc="-199" dirty="0" err="1">
                <a:solidFill>
                  <a:srgbClr val="FFFFFF"/>
                </a:solidFill>
                <a:latin typeface="TT Ramillas"/>
                <a:ea typeface="TT Ramillas"/>
                <a:cs typeface="TT Ramillas"/>
                <a:sym typeface="TT Ramillas"/>
              </a:rPr>
              <a:t>仮説</a:t>
            </a:r>
            <a:endParaRPr lang="en-US" sz="9999" spc="-199" dirty="0">
              <a:solidFill>
                <a:srgbClr val="FFFFFF"/>
              </a:solidFill>
              <a:latin typeface="TT Ramillas"/>
              <a:ea typeface="TT Ramillas"/>
              <a:cs typeface="TT Ramillas"/>
              <a:sym typeface="TT Ramillas"/>
            </a:endParaRP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A2A6C"/>
        </a:solidFill>
        <a:effectLst/>
      </p:bgPr>
    </p:bg>
    <p:spTree>
      <p:nvGrpSpPr>
        <p:cNvPr id="1" name=""/>
        <p:cNvGrpSpPr/>
        <p:nvPr/>
      </p:nvGrpSpPr>
      <p:grpSpPr>
        <a:xfrm>
          <a:off x="0" y="0"/>
          <a:ext cx="0" cy="0"/>
          <a:chOff x="0" y="0"/>
          <a:chExt cx="0" cy="0"/>
        </a:xfrm>
      </p:grpSpPr>
      <p:sp>
        <p:nvSpPr>
          <p:cNvPr id="2" name="AutoShape 2"/>
          <p:cNvSpPr/>
          <p:nvPr/>
        </p:nvSpPr>
        <p:spPr>
          <a:xfrm>
            <a:off x="1028700" y="2669042"/>
            <a:ext cx="15370701" cy="0"/>
          </a:xfrm>
          <a:prstGeom prst="line">
            <a:avLst/>
          </a:prstGeom>
          <a:ln w="19050" cap="flat">
            <a:solidFill>
              <a:srgbClr val="F3F3F3"/>
            </a:solidFill>
            <a:prstDash val="solid"/>
            <a:headEnd type="none" w="sm" len="sm"/>
            <a:tailEnd type="none" w="sm" len="sm"/>
          </a:ln>
        </p:spPr>
        <p:txBody>
          <a:bodyPr/>
          <a:lstStyle/>
          <a:p>
            <a:endParaRPr lang="ko-KR" altLang="en-US"/>
          </a:p>
        </p:txBody>
      </p:sp>
      <p:sp>
        <p:nvSpPr>
          <p:cNvPr id="3" name="TextBox 3"/>
          <p:cNvSpPr txBox="1"/>
          <p:nvPr/>
        </p:nvSpPr>
        <p:spPr>
          <a:xfrm>
            <a:off x="1028700" y="2867025"/>
            <a:ext cx="16230600" cy="5343771"/>
          </a:xfrm>
          <a:prstGeom prst="rect">
            <a:avLst/>
          </a:prstGeom>
        </p:spPr>
        <p:txBody>
          <a:bodyPr lIns="0" tIns="0" rIns="0" bIns="0" rtlCol="0" anchor="t">
            <a:spAutoFit/>
          </a:bodyPr>
          <a:lstStyle/>
          <a:p>
            <a:pPr algn="l">
              <a:lnSpc>
                <a:spcPts val="4200"/>
              </a:lnSpc>
            </a:pPr>
            <a:r>
              <a:rPr lang="en-US" sz="3000" dirty="0" err="1">
                <a:solidFill>
                  <a:srgbClr val="F3F3F3"/>
                </a:solidFill>
                <a:latin typeface="TT Interphases"/>
                <a:ea typeface="TT Interphases"/>
                <a:cs typeface="TT Interphases"/>
                <a:sym typeface="TT Interphases"/>
              </a:rPr>
              <a:t>ソウルでは</a:t>
            </a:r>
            <a:endParaRPr lang="en-US" sz="3000" dirty="0">
              <a:solidFill>
                <a:srgbClr val="F3F3F3"/>
              </a:solidFill>
              <a:latin typeface="TT Interphases"/>
              <a:ea typeface="TT Interphases"/>
              <a:cs typeface="TT Interphases"/>
              <a:sym typeface="TT Interphases"/>
            </a:endParaRPr>
          </a:p>
          <a:p>
            <a:pPr algn="l">
              <a:lnSpc>
                <a:spcPts val="4200"/>
              </a:lnSpc>
            </a:pPr>
            <a:endParaRPr lang="en-US" sz="3000" dirty="0">
              <a:solidFill>
                <a:srgbClr val="F3F3F3"/>
              </a:solidFill>
              <a:latin typeface="TT Interphases"/>
              <a:ea typeface="TT Interphases"/>
              <a:cs typeface="TT Interphases"/>
              <a:sym typeface="TT Interphases"/>
            </a:endParaRPr>
          </a:p>
          <a:p>
            <a:pPr marL="0" lvl="0" indent="0" algn="l">
              <a:lnSpc>
                <a:spcPts val="4200"/>
              </a:lnSpc>
            </a:pPr>
            <a:r>
              <a:rPr lang="en-US" sz="3000" dirty="0" err="1">
                <a:solidFill>
                  <a:srgbClr val="F3F3F3"/>
                </a:solidFill>
                <a:latin typeface="TT Interphases"/>
                <a:ea typeface="TT Interphases"/>
                <a:cs typeface="TT Interphases"/>
                <a:sym typeface="TT Interphases"/>
              </a:rPr>
              <a:t>男性</a:t>
            </a:r>
            <a:r>
              <a:rPr lang="ja-JP" altLang="en-US" sz="3000">
                <a:solidFill>
                  <a:srgbClr val="F3F3F3"/>
                </a:solidFill>
                <a:latin typeface="TT Interphases"/>
                <a:ea typeface="TT Interphases"/>
                <a:cs typeface="TT Interphases"/>
                <a:sym typeface="TT Interphases"/>
              </a:rPr>
              <a:t>　</a:t>
            </a:r>
            <a:r>
              <a:rPr lang="en-US" altLang="ko-KR" sz="3000" dirty="0">
                <a:solidFill>
                  <a:srgbClr val="F3F3F3"/>
                </a:solidFill>
                <a:latin typeface="TT Interphases"/>
                <a:ea typeface="TT Interphases"/>
                <a:cs typeface="TT Interphases"/>
                <a:sym typeface="TT Interphases"/>
              </a:rPr>
              <a:t>1st </a:t>
            </a:r>
            <a:r>
              <a:rPr lang="en-US" sz="3000" dirty="0" err="1">
                <a:solidFill>
                  <a:srgbClr val="F3F3F3"/>
                </a:solidFill>
                <a:latin typeface="TT Interphases"/>
                <a:ea typeface="TT Interphases"/>
                <a:cs typeface="TT Interphases"/>
                <a:sym typeface="TT Interphases"/>
              </a:rPr>
              <a:t>hongdae</a:t>
            </a:r>
            <a:r>
              <a:rPr lang="en-US" sz="3000" dirty="0">
                <a:solidFill>
                  <a:srgbClr val="F3F3F3"/>
                </a:solidFill>
                <a:latin typeface="TT Interphases"/>
                <a:ea typeface="TT Interphases"/>
                <a:cs typeface="TT Interphases"/>
                <a:sym typeface="TT Interphases"/>
              </a:rPr>
              <a:t> 、２nd JYP</a:t>
            </a:r>
            <a:endParaRPr lang="en-US" sz="3000" u="none" dirty="0">
              <a:solidFill>
                <a:srgbClr val="F3F3F3"/>
              </a:solidFill>
              <a:latin typeface="TT Interphases"/>
              <a:ea typeface="TT Interphases"/>
              <a:cs typeface="TT Interphases"/>
              <a:sym typeface="TT Interphases"/>
            </a:endParaRPr>
          </a:p>
          <a:p>
            <a:pPr lvl="0">
              <a:lnSpc>
                <a:spcPts val="4200"/>
              </a:lnSpc>
            </a:pPr>
            <a:r>
              <a:rPr lang="en-US" sz="3000" u="none" dirty="0" err="1">
                <a:solidFill>
                  <a:srgbClr val="F3F3F3"/>
                </a:solidFill>
                <a:latin typeface="TT Interphases"/>
                <a:ea typeface="TT Interphases"/>
                <a:cs typeface="TT Interphases"/>
                <a:sym typeface="TT Interphases"/>
              </a:rPr>
              <a:t>女性</a:t>
            </a:r>
            <a:r>
              <a:rPr lang="en-US" sz="3000" u="none" dirty="0">
                <a:solidFill>
                  <a:srgbClr val="F3F3F3"/>
                </a:solidFill>
                <a:latin typeface="TT Interphases"/>
                <a:ea typeface="TT Interphases"/>
                <a:cs typeface="TT Interphases"/>
                <a:sym typeface="TT Interphases"/>
              </a:rPr>
              <a:t>     </a:t>
            </a:r>
            <a:r>
              <a:rPr lang="en-US" altLang="ko-KR" sz="3000" dirty="0">
                <a:solidFill>
                  <a:srgbClr val="F3F3F3"/>
                </a:solidFill>
                <a:latin typeface="TT Interphases"/>
                <a:ea typeface="TT Interphases"/>
                <a:cs typeface="TT Interphases"/>
                <a:sym typeface="TT Interphases"/>
              </a:rPr>
              <a:t>1st </a:t>
            </a:r>
            <a:r>
              <a:rPr lang="en-US" sz="3000" u="none" dirty="0" err="1">
                <a:solidFill>
                  <a:srgbClr val="F3F3F3"/>
                </a:solidFill>
                <a:latin typeface="TT Interphases"/>
                <a:ea typeface="TT Interphases"/>
                <a:cs typeface="TT Interphases"/>
                <a:sym typeface="TT Interphases"/>
              </a:rPr>
              <a:t>hongdae</a:t>
            </a:r>
            <a:r>
              <a:rPr lang="en-US" sz="3000" u="none" dirty="0">
                <a:solidFill>
                  <a:srgbClr val="F3F3F3"/>
                </a:solidFill>
                <a:latin typeface="TT Interphases"/>
                <a:ea typeface="TT Interphases"/>
                <a:cs typeface="TT Interphases"/>
                <a:sym typeface="TT Interphases"/>
              </a:rPr>
              <a:t> 、</a:t>
            </a:r>
            <a:r>
              <a:rPr lang="en-US" altLang="ko-KR" sz="3000" dirty="0">
                <a:solidFill>
                  <a:srgbClr val="F3F3F3"/>
                </a:solidFill>
                <a:latin typeface="TT Interphases"/>
                <a:ea typeface="TT Interphases"/>
                <a:cs typeface="TT Interphases"/>
                <a:sym typeface="TT Interphases"/>
              </a:rPr>
              <a:t>２nd </a:t>
            </a:r>
            <a:r>
              <a:rPr lang="en-US" sz="3000" u="none" dirty="0" err="1">
                <a:solidFill>
                  <a:srgbClr val="F3F3F3"/>
                </a:solidFill>
                <a:latin typeface="TT Interphases"/>
                <a:ea typeface="TT Interphases"/>
                <a:cs typeface="TT Interphases"/>
                <a:sym typeface="TT Interphases"/>
              </a:rPr>
              <a:t>gangnam</a:t>
            </a:r>
            <a:r>
              <a:rPr lang="en-US" sz="3000" u="none" dirty="0">
                <a:solidFill>
                  <a:srgbClr val="F3F3F3"/>
                </a:solidFill>
                <a:latin typeface="TT Interphases"/>
                <a:ea typeface="TT Interphases"/>
                <a:cs typeface="TT Interphases"/>
                <a:sym typeface="TT Interphases"/>
              </a:rPr>
              <a:t> 。</a:t>
            </a:r>
          </a:p>
          <a:p>
            <a:pPr marL="0" lvl="0" indent="0" algn="l">
              <a:lnSpc>
                <a:spcPts val="4200"/>
              </a:lnSpc>
            </a:pPr>
            <a:endParaRPr lang="en-US" sz="3000" u="none" dirty="0">
              <a:solidFill>
                <a:srgbClr val="F3F3F3"/>
              </a:solidFill>
              <a:latin typeface="TT Interphases"/>
              <a:ea typeface="TT Interphases"/>
              <a:cs typeface="TT Interphases"/>
              <a:sym typeface="TT Interphases"/>
            </a:endParaRPr>
          </a:p>
          <a:p>
            <a:pPr marL="0" lvl="0" indent="0" algn="l">
              <a:lnSpc>
                <a:spcPts val="4200"/>
              </a:lnSpc>
            </a:pPr>
            <a:r>
              <a:rPr lang="en-US" sz="3000" u="none" dirty="0" err="1">
                <a:solidFill>
                  <a:srgbClr val="F3F3F3"/>
                </a:solidFill>
                <a:latin typeface="TT Interphases"/>
                <a:ea typeface="TT Interphases"/>
                <a:cs typeface="TT Interphases"/>
                <a:sym typeface="TT Interphases"/>
              </a:rPr>
              <a:t>東京では</a:t>
            </a:r>
            <a:r>
              <a:rPr lang="en-US" sz="3000" u="none" dirty="0">
                <a:solidFill>
                  <a:srgbClr val="F3F3F3"/>
                </a:solidFill>
                <a:latin typeface="TT Interphases"/>
                <a:ea typeface="TT Interphases"/>
                <a:cs typeface="TT Interphases"/>
                <a:sym typeface="TT Interphases"/>
              </a:rPr>
              <a:t>、</a:t>
            </a:r>
          </a:p>
          <a:p>
            <a:pPr marL="0" lvl="0" indent="0" algn="l">
              <a:lnSpc>
                <a:spcPts val="4200"/>
              </a:lnSpc>
            </a:pPr>
            <a:endParaRPr lang="en-US" sz="3000" u="none" dirty="0">
              <a:solidFill>
                <a:srgbClr val="F3F3F3"/>
              </a:solidFill>
              <a:latin typeface="TT Interphases"/>
              <a:ea typeface="TT Interphases"/>
              <a:cs typeface="TT Interphases"/>
              <a:sym typeface="TT Interphases"/>
            </a:endParaRPr>
          </a:p>
          <a:p>
            <a:pPr lvl="0">
              <a:lnSpc>
                <a:spcPts val="4200"/>
              </a:lnSpc>
            </a:pPr>
            <a:r>
              <a:rPr lang="en-US" sz="3000" u="none" dirty="0" err="1">
                <a:solidFill>
                  <a:srgbClr val="F3F3F3"/>
                </a:solidFill>
                <a:latin typeface="TT Interphases"/>
                <a:ea typeface="TT Interphases"/>
                <a:cs typeface="TT Interphases"/>
                <a:sym typeface="TT Interphases"/>
              </a:rPr>
              <a:t>男性</a:t>
            </a:r>
            <a:r>
              <a:rPr lang="en-US" sz="3000" u="none" dirty="0">
                <a:solidFill>
                  <a:srgbClr val="F3F3F3"/>
                </a:solidFill>
                <a:latin typeface="TT Interphases"/>
                <a:ea typeface="TT Interphases"/>
                <a:cs typeface="TT Interphases"/>
                <a:sym typeface="TT Interphases"/>
              </a:rPr>
              <a:t>     </a:t>
            </a:r>
            <a:r>
              <a:rPr lang="en-US" altLang="ko-KR" sz="3000" dirty="0">
                <a:solidFill>
                  <a:srgbClr val="F3F3F3"/>
                </a:solidFill>
                <a:latin typeface="TT Interphases"/>
                <a:ea typeface="TT Interphases"/>
                <a:cs typeface="TT Interphases"/>
                <a:sym typeface="TT Interphases"/>
              </a:rPr>
              <a:t>1st</a:t>
            </a:r>
            <a:r>
              <a:rPr lang="en-US" sz="3000" u="none" dirty="0">
                <a:solidFill>
                  <a:srgbClr val="F3F3F3"/>
                </a:solidFill>
                <a:latin typeface="TT Interphases"/>
                <a:ea typeface="TT Interphases"/>
                <a:cs typeface="TT Interphases"/>
                <a:sym typeface="TT Interphases"/>
              </a:rPr>
              <a:t> </a:t>
            </a:r>
            <a:r>
              <a:rPr lang="en-US" sz="3000" u="none" dirty="0" err="1">
                <a:solidFill>
                  <a:srgbClr val="F3F3F3"/>
                </a:solidFill>
                <a:latin typeface="TT Interphases"/>
                <a:ea typeface="TT Interphases"/>
                <a:cs typeface="TT Interphases"/>
                <a:sym typeface="TT Interphases"/>
              </a:rPr>
              <a:t>shinjuku</a:t>
            </a:r>
            <a:r>
              <a:rPr lang="en-US" sz="3000" u="none" dirty="0">
                <a:solidFill>
                  <a:srgbClr val="F3F3F3"/>
                </a:solidFill>
                <a:latin typeface="TT Interphases"/>
                <a:ea typeface="TT Interphases"/>
                <a:cs typeface="TT Interphases"/>
                <a:sym typeface="TT Interphases"/>
              </a:rPr>
              <a:t> 、</a:t>
            </a:r>
            <a:r>
              <a:rPr lang="en-US" altLang="ko-KR" sz="3000" dirty="0">
                <a:solidFill>
                  <a:srgbClr val="F3F3F3"/>
                </a:solidFill>
                <a:latin typeface="TT Interphases"/>
                <a:ea typeface="TT Interphases"/>
                <a:cs typeface="TT Interphases"/>
                <a:sym typeface="TT Interphases"/>
              </a:rPr>
              <a:t> ２nd </a:t>
            </a:r>
            <a:r>
              <a:rPr lang="en-US" sz="3000" u="none" dirty="0">
                <a:solidFill>
                  <a:srgbClr val="F3F3F3"/>
                </a:solidFill>
                <a:latin typeface="TT Interphases"/>
                <a:ea typeface="TT Interphases"/>
                <a:cs typeface="TT Interphases"/>
                <a:sym typeface="TT Interphases"/>
              </a:rPr>
              <a:t>Shibuya</a:t>
            </a:r>
          </a:p>
          <a:p>
            <a:pPr marL="0" lvl="0" indent="0" algn="l">
              <a:lnSpc>
                <a:spcPts val="4200"/>
              </a:lnSpc>
            </a:pPr>
            <a:r>
              <a:rPr lang="en-US" sz="3000" u="none" dirty="0" err="1">
                <a:solidFill>
                  <a:srgbClr val="F3F3F3"/>
                </a:solidFill>
                <a:latin typeface="TT Interphases"/>
                <a:ea typeface="TT Interphases"/>
                <a:cs typeface="TT Interphases"/>
                <a:sym typeface="TT Interphases"/>
              </a:rPr>
              <a:t>女性</a:t>
            </a:r>
            <a:r>
              <a:rPr lang="en-US" sz="3000" u="none" dirty="0">
                <a:solidFill>
                  <a:srgbClr val="F3F3F3"/>
                </a:solidFill>
                <a:latin typeface="TT Interphases"/>
                <a:ea typeface="TT Interphases"/>
                <a:cs typeface="TT Interphases"/>
                <a:sym typeface="TT Interphases"/>
              </a:rPr>
              <a:t>.    </a:t>
            </a:r>
            <a:r>
              <a:rPr lang="en-US" sz="3000" u="none" dirty="0" err="1">
                <a:solidFill>
                  <a:srgbClr val="F3F3F3"/>
                </a:solidFill>
                <a:latin typeface="TT Interphases"/>
                <a:ea typeface="TT Interphases"/>
                <a:cs typeface="TT Interphases"/>
                <a:sym typeface="TT Interphases"/>
              </a:rPr>
              <a:t>asakusa</a:t>
            </a:r>
            <a:r>
              <a:rPr lang="en-US" sz="3000" u="none" dirty="0">
                <a:solidFill>
                  <a:srgbClr val="F3F3F3"/>
                </a:solidFill>
                <a:latin typeface="TT Interphases"/>
                <a:ea typeface="TT Interphases"/>
                <a:cs typeface="TT Interphases"/>
                <a:sym typeface="TT Interphases"/>
              </a:rPr>
              <a:t> , </a:t>
            </a:r>
            <a:r>
              <a:rPr lang="en-US" sz="3000" dirty="0" err="1">
                <a:solidFill>
                  <a:srgbClr val="F3F3F3"/>
                </a:solidFill>
                <a:latin typeface="TT Interphases"/>
                <a:ea typeface="TT Interphases"/>
                <a:cs typeface="TT Interphases"/>
                <a:sym typeface="TT Interphases"/>
              </a:rPr>
              <a:t>odaiba</a:t>
            </a:r>
            <a:r>
              <a:rPr lang="en-US" sz="3000" dirty="0">
                <a:solidFill>
                  <a:srgbClr val="F3F3F3"/>
                </a:solidFill>
                <a:latin typeface="TT Interphases"/>
                <a:ea typeface="TT Interphases"/>
                <a:cs typeface="TT Interphases"/>
                <a:sym typeface="TT Interphases"/>
              </a:rPr>
              <a:t>, </a:t>
            </a:r>
            <a:r>
              <a:rPr lang="en-US" sz="3000" dirty="0" err="1">
                <a:solidFill>
                  <a:srgbClr val="F3F3F3"/>
                </a:solidFill>
                <a:latin typeface="TT Interphases"/>
                <a:ea typeface="TT Interphases"/>
                <a:cs typeface="TT Interphases"/>
                <a:sym typeface="TT Interphases"/>
              </a:rPr>
              <a:t>shibuya</a:t>
            </a:r>
            <a:r>
              <a:rPr lang="en-US" sz="3000" dirty="0">
                <a:solidFill>
                  <a:srgbClr val="F3F3F3"/>
                </a:solidFill>
                <a:latin typeface="TT Interphases"/>
                <a:ea typeface="TT Interphases"/>
                <a:cs typeface="TT Interphases"/>
                <a:sym typeface="TT Interphases"/>
              </a:rPr>
              <a:t>, </a:t>
            </a:r>
            <a:r>
              <a:rPr lang="en-US" sz="3000" dirty="0" err="1">
                <a:solidFill>
                  <a:srgbClr val="F3F3F3"/>
                </a:solidFill>
                <a:latin typeface="TT Interphases"/>
                <a:ea typeface="TT Interphases"/>
                <a:cs typeface="TT Interphases"/>
                <a:sym typeface="TT Interphases"/>
              </a:rPr>
              <a:t>harajuku</a:t>
            </a:r>
            <a:r>
              <a:rPr lang="en-US" sz="3000" dirty="0">
                <a:solidFill>
                  <a:srgbClr val="F3F3F3"/>
                </a:solidFill>
                <a:latin typeface="TT Interphases"/>
                <a:ea typeface="TT Interphases"/>
                <a:cs typeface="TT Interphases"/>
                <a:sym typeface="TT Interphases"/>
              </a:rPr>
              <a:t> </a:t>
            </a:r>
            <a:r>
              <a:rPr lang="en-US" sz="3000" u="none" dirty="0">
                <a:solidFill>
                  <a:srgbClr val="F3F3F3"/>
                </a:solidFill>
                <a:latin typeface="TT Interphases"/>
                <a:ea typeface="TT Interphases"/>
                <a:cs typeface="TT Interphases"/>
                <a:sym typeface="TT Interphases"/>
              </a:rPr>
              <a:t>が1位。</a:t>
            </a:r>
          </a:p>
          <a:p>
            <a:pPr marL="0" lvl="0" indent="0" algn="l">
              <a:lnSpc>
                <a:spcPts val="4200"/>
              </a:lnSpc>
            </a:pPr>
            <a:endParaRPr lang="en-US" sz="3000" u="none" dirty="0">
              <a:solidFill>
                <a:srgbClr val="F3F3F3"/>
              </a:solidFill>
              <a:latin typeface="TT Interphases"/>
              <a:ea typeface="TT Interphases"/>
              <a:cs typeface="TT Interphases"/>
              <a:sym typeface="TT Interphases"/>
            </a:endParaRPr>
          </a:p>
        </p:txBody>
      </p:sp>
      <p:sp>
        <p:nvSpPr>
          <p:cNvPr id="4" name="TextBox 4"/>
          <p:cNvSpPr txBox="1"/>
          <p:nvPr/>
        </p:nvSpPr>
        <p:spPr>
          <a:xfrm>
            <a:off x="1028700" y="878999"/>
            <a:ext cx="6886575" cy="1330324"/>
          </a:xfrm>
          <a:prstGeom prst="rect">
            <a:avLst/>
          </a:prstGeom>
        </p:spPr>
        <p:txBody>
          <a:bodyPr lIns="0" tIns="0" rIns="0" bIns="0" rtlCol="0" anchor="t">
            <a:spAutoFit/>
          </a:bodyPr>
          <a:lstStyle/>
          <a:p>
            <a:pPr marL="0" lvl="0" indent="0" algn="l">
              <a:lnSpc>
                <a:spcPts val="9999"/>
              </a:lnSpc>
            </a:pPr>
            <a:r>
              <a:rPr lang="en-US" sz="9999" spc="-199">
                <a:solidFill>
                  <a:srgbClr val="FFFFFF"/>
                </a:solidFill>
                <a:latin typeface="TT Ramillas"/>
                <a:ea typeface="TT Ramillas"/>
                <a:cs typeface="TT Ramillas"/>
                <a:sym typeface="TT Ramillas"/>
              </a:rPr>
              <a:t>結果</a:t>
            </a: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D32F2F"/>
        </a:solidFill>
        <a:effectLst/>
      </p:bgPr>
    </p:bg>
    <p:spTree>
      <p:nvGrpSpPr>
        <p:cNvPr id="1" name=""/>
        <p:cNvGrpSpPr/>
        <p:nvPr/>
      </p:nvGrpSpPr>
      <p:grpSpPr>
        <a:xfrm>
          <a:off x="0" y="0"/>
          <a:ext cx="0" cy="0"/>
          <a:chOff x="0" y="0"/>
          <a:chExt cx="0" cy="0"/>
        </a:xfrm>
      </p:grpSpPr>
      <p:sp>
        <p:nvSpPr>
          <p:cNvPr id="2" name="TextBox 2"/>
          <p:cNvSpPr txBox="1"/>
          <p:nvPr/>
        </p:nvSpPr>
        <p:spPr>
          <a:xfrm>
            <a:off x="666750" y="2509520"/>
            <a:ext cx="16059150" cy="7196201"/>
          </a:xfrm>
          <a:prstGeom prst="rect">
            <a:avLst/>
          </a:prstGeom>
        </p:spPr>
        <p:txBody>
          <a:bodyPr lIns="0" tIns="0" rIns="0" bIns="0" rtlCol="0" anchor="t">
            <a:spAutoFit/>
          </a:bodyPr>
          <a:lstStyle/>
          <a:p>
            <a:pPr algn="l">
              <a:lnSpc>
                <a:spcPts val="4300"/>
              </a:lnSpc>
            </a:pPr>
            <a:r>
              <a:rPr lang="en-US" sz="4300" spc="-86" dirty="0" err="1">
                <a:solidFill>
                  <a:srgbClr val="F3F3F3"/>
                </a:solidFill>
                <a:latin typeface="TT Ramillas"/>
                <a:ea typeface="TT Ramillas"/>
                <a:cs typeface="TT Ramillas"/>
                <a:sym typeface="TT Ramillas"/>
              </a:rPr>
              <a:t>本分析の結果</a:t>
            </a:r>
            <a:r>
              <a:rPr lang="en-US" sz="4300" spc="-86" dirty="0">
                <a:solidFill>
                  <a:srgbClr val="F3F3F3"/>
                </a:solidFill>
                <a:latin typeface="TT Ramillas"/>
                <a:ea typeface="TT Ramillas"/>
                <a:cs typeface="TT Ramillas"/>
                <a:sym typeface="TT Ramillas"/>
              </a:rPr>
              <a:t>、</a:t>
            </a:r>
          </a:p>
          <a:p>
            <a:pPr algn="l">
              <a:lnSpc>
                <a:spcPts val="4300"/>
              </a:lnSpc>
            </a:pPr>
            <a:r>
              <a:rPr lang="en-US" sz="4300" spc="-86" dirty="0">
                <a:solidFill>
                  <a:srgbClr val="F3F3F3"/>
                </a:solidFill>
                <a:latin typeface="TT Ramillas"/>
                <a:ea typeface="TT Ramillas"/>
                <a:cs typeface="TT Ramillas"/>
                <a:sym typeface="TT Ramillas"/>
              </a:rPr>
              <a:t>近年の20代の男女は、国籍や性別を問わず、</a:t>
            </a:r>
          </a:p>
          <a:p>
            <a:pPr algn="l">
              <a:lnSpc>
                <a:spcPts val="4300"/>
              </a:lnSpc>
            </a:pPr>
            <a:r>
              <a:rPr lang="en-US" sz="4300" spc="-86" dirty="0" err="1">
                <a:solidFill>
                  <a:srgbClr val="F3F3F3"/>
                </a:solidFill>
                <a:latin typeface="TT Ramillas"/>
                <a:ea typeface="TT Ramillas"/>
                <a:cs typeface="TT Ramillas"/>
                <a:sym typeface="TT Ramillas"/>
              </a:rPr>
              <a:t>共通したトレンド拠点を共有していることが確認された</a:t>
            </a:r>
            <a:r>
              <a:rPr lang="en-US" sz="4300" spc="-86" dirty="0">
                <a:solidFill>
                  <a:srgbClr val="F3F3F3"/>
                </a:solidFill>
                <a:latin typeface="TT Ramillas"/>
                <a:ea typeface="TT Ramillas"/>
                <a:cs typeface="TT Ramillas"/>
                <a:sym typeface="TT Ramillas"/>
              </a:rPr>
              <a:t>。</a:t>
            </a:r>
          </a:p>
          <a:p>
            <a:pPr algn="l">
              <a:lnSpc>
                <a:spcPts val="4300"/>
              </a:lnSpc>
            </a:pPr>
            <a:endParaRPr lang="en-US" sz="4300" spc="-86" dirty="0">
              <a:solidFill>
                <a:srgbClr val="F3F3F3"/>
              </a:solidFill>
              <a:latin typeface="TT Ramillas"/>
              <a:ea typeface="TT Ramillas"/>
              <a:cs typeface="TT Ramillas"/>
              <a:sym typeface="TT Ramillas"/>
            </a:endParaRPr>
          </a:p>
          <a:p>
            <a:pPr algn="l">
              <a:lnSpc>
                <a:spcPts val="4300"/>
              </a:lnSpc>
            </a:pPr>
            <a:r>
              <a:rPr lang="en-US" sz="4300" spc="-86" dirty="0" err="1">
                <a:solidFill>
                  <a:srgbClr val="F3F3F3"/>
                </a:solidFill>
                <a:latin typeface="TT Ramillas"/>
                <a:ea typeface="TT Ramillas"/>
                <a:cs typeface="TT Ramillas"/>
                <a:sym typeface="TT Ramillas"/>
              </a:rPr>
              <a:t>一方で、同一の拠点に対しても</a:t>
            </a:r>
            <a:r>
              <a:rPr lang="en-US" sz="4300" spc="-86" dirty="0">
                <a:solidFill>
                  <a:srgbClr val="F3F3F3"/>
                </a:solidFill>
                <a:latin typeface="TT Ramillas"/>
                <a:ea typeface="TT Ramillas"/>
                <a:cs typeface="TT Ramillas"/>
                <a:sym typeface="TT Ramillas"/>
              </a:rPr>
              <a:t>、</a:t>
            </a:r>
          </a:p>
          <a:p>
            <a:pPr algn="l">
              <a:lnSpc>
                <a:spcPts val="4300"/>
              </a:lnSpc>
            </a:pPr>
            <a:r>
              <a:rPr lang="en-US" sz="4300" spc="-86" dirty="0" err="1">
                <a:solidFill>
                  <a:srgbClr val="F3F3F3"/>
                </a:solidFill>
                <a:latin typeface="TT Ramillas"/>
                <a:ea typeface="TT Ramillas"/>
                <a:cs typeface="TT Ramillas"/>
                <a:sym typeface="TT Ramillas"/>
              </a:rPr>
              <a:t>重視する要素や関心の向きには</a:t>
            </a:r>
            <a:r>
              <a:rPr lang="en-US" sz="4300" spc="-86" dirty="0">
                <a:solidFill>
                  <a:srgbClr val="F3F3F3"/>
                </a:solidFill>
                <a:latin typeface="TT Ramillas"/>
                <a:ea typeface="TT Ramillas"/>
                <a:cs typeface="TT Ramillas"/>
                <a:sym typeface="TT Ramillas"/>
              </a:rPr>
              <a:t>、</a:t>
            </a:r>
          </a:p>
          <a:p>
            <a:pPr algn="l">
              <a:lnSpc>
                <a:spcPts val="4300"/>
              </a:lnSpc>
            </a:pPr>
            <a:r>
              <a:rPr lang="en-US" sz="4300" spc="-86" dirty="0" err="1">
                <a:solidFill>
                  <a:srgbClr val="F3F3F3"/>
                </a:solidFill>
                <a:latin typeface="TT Ramillas"/>
                <a:ea typeface="TT Ramillas"/>
                <a:cs typeface="TT Ramillas"/>
                <a:sym typeface="TT Ramillas"/>
              </a:rPr>
              <a:t>性別による差異が存在することが明らかになった</a:t>
            </a:r>
            <a:r>
              <a:rPr lang="en-US" sz="4300" spc="-86" dirty="0">
                <a:solidFill>
                  <a:srgbClr val="F3F3F3"/>
                </a:solidFill>
                <a:latin typeface="TT Ramillas"/>
                <a:ea typeface="TT Ramillas"/>
                <a:cs typeface="TT Ramillas"/>
                <a:sym typeface="TT Ramillas"/>
              </a:rPr>
              <a:t>。</a:t>
            </a:r>
          </a:p>
          <a:p>
            <a:pPr algn="l">
              <a:lnSpc>
                <a:spcPts val="4300"/>
              </a:lnSpc>
            </a:pPr>
            <a:endParaRPr lang="en-US" sz="4300" spc="-86" dirty="0">
              <a:solidFill>
                <a:srgbClr val="F3F3F3"/>
              </a:solidFill>
              <a:latin typeface="TT Ramillas"/>
              <a:ea typeface="TT Ramillas"/>
              <a:cs typeface="TT Ramillas"/>
              <a:sym typeface="TT Ramillas"/>
            </a:endParaRPr>
          </a:p>
          <a:p>
            <a:pPr algn="l">
              <a:lnSpc>
                <a:spcPts val="4300"/>
              </a:lnSpc>
            </a:pPr>
            <a:r>
              <a:rPr lang="en-US" sz="4300" spc="-86" dirty="0" err="1">
                <a:solidFill>
                  <a:srgbClr val="F3F3F3"/>
                </a:solidFill>
                <a:latin typeface="TT Ramillas"/>
                <a:ea typeface="TT Ramillas"/>
                <a:cs typeface="TT Ramillas"/>
                <a:sym typeface="TT Ramillas"/>
              </a:rPr>
              <a:t>以上より</a:t>
            </a:r>
            <a:r>
              <a:rPr lang="en-US" sz="4300" spc="-86" dirty="0">
                <a:solidFill>
                  <a:srgbClr val="F3F3F3"/>
                </a:solidFill>
                <a:latin typeface="TT Ramillas"/>
                <a:ea typeface="TT Ramillas"/>
                <a:cs typeface="TT Ramillas"/>
                <a:sym typeface="TT Ramillas"/>
              </a:rPr>
              <a:t>、「</a:t>
            </a:r>
            <a:r>
              <a:rPr lang="en-US" sz="4300" spc="-86" dirty="0" err="1">
                <a:solidFill>
                  <a:srgbClr val="F3F3F3"/>
                </a:solidFill>
                <a:latin typeface="TT Ramillas"/>
                <a:ea typeface="TT Ramillas"/>
                <a:cs typeface="TT Ramillas"/>
                <a:sym typeface="TT Ramillas"/>
              </a:rPr>
              <a:t>男女の嗜好は類似している」という仮説は</a:t>
            </a:r>
            <a:r>
              <a:rPr lang="en-US" sz="4300" spc="-86" dirty="0">
                <a:solidFill>
                  <a:srgbClr val="F3F3F3"/>
                </a:solidFill>
                <a:latin typeface="TT Ramillas"/>
                <a:ea typeface="TT Ramillas"/>
                <a:cs typeface="TT Ramillas"/>
                <a:sym typeface="TT Ramillas"/>
              </a:rPr>
              <a:t>、</a:t>
            </a:r>
          </a:p>
          <a:p>
            <a:pPr algn="l">
              <a:lnSpc>
                <a:spcPts val="4300"/>
              </a:lnSpc>
            </a:pPr>
            <a:r>
              <a:rPr lang="en-US" sz="4300" spc="-86" dirty="0" err="1">
                <a:solidFill>
                  <a:srgbClr val="F3F3F3"/>
                </a:solidFill>
                <a:latin typeface="TT Ramillas"/>
                <a:ea typeface="TT Ramillas"/>
                <a:cs typeface="TT Ramillas"/>
                <a:sym typeface="TT Ramillas"/>
              </a:rPr>
              <a:t>完全に同一であるとは言い切れないものの</a:t>
            </a:r>
            <a:r>
              <a:rPr lang="en-US" sz="4300" spc="-86" dirty="0">
                <a:solidFill>
                  <a:srgbClr val="F3F3F3"/>
                </a:solidFill>
                <a:latin typeface="TT Ramillas"/>
                <a:ea typeface="TT Ramillas"/>
                <a:cs typeface="TT Ramillas"/>
                <a:sym typeface="TT Ramillas"/>
              </a:rPr>
              <a:t>、</a:t>
            </a:r>
          </a:p>
          <a:p>
            <a:pPr algn="l">
              <a:lnSpc>
                <a:spcPts val="4300"/>
              </a:lnSpc>
            </a:pPr>
            <a:r>
              <a:rPr lang="en-US" sz="4300" spc="-86" dirty="0" err="1">
                <a:solidFill>
                  <a:srgbClr val="F3F3F3"/>
                </a:solidFill>
                <a:latin typeface="TT Ramillas"/>
                <a:ea typeface="TT Ramillas"/>
                <a:cs typeface="TT Ramillas"/>
                <a:sym typeface="TT Ramillas"/>
              </a:rPr>
              <a:t>心理的に近い空間を共有しているという点において</a:t>
            </a:r>
            <a:r>
              <a:rPr lang="en-US" sz="4300" spc="-86" dirty="0">
                <a:solidFill>
                  <a:srgbClr val="F3F3F3"/>
                </a:solidFill>
                <a:latin typeface="TT Ramillas"/>
                <a:ea typeface="TT Ramillas"/>
                <a:cs typeface="TT Ramillas"/>
                <a:sym typeface="TT Ramillas"/>
              </a:rPr>
              <a:t>、</a:t>
            </a:r>
          </a:p>
          <a:p>
            <a:pPr algn="l">
              <a:lnSpc>
                <a:spcPts val="4300"/>
              </a:lnSpc>
            </a:pPr>
            <a:r>
              <a:rPr lang="en-US" sz="4300" spc="-86" dirty="0" err="1">
                <a:solidFill>
                  <a:srgbClr val="F3F3F3"/>
                </a:solidFill>
                <a:latin typeface="TT Ramillas"/>
                <a:ea typeface="TT Ramillas"/>
                <a:cs typeface="TT Ramillas"/>
                <a:sym typeface="TT Ramillas"/>
              </a:rPr>
              <a:t>部分的に支持されたと判断することができる</a:t>
            </a:r>
            <a:r>
              <a:rPr lang="en-US" sz="4300" spc="-86" dirty="0">
                <a:solidFill>
                  <a:srgbClr val="F3F3F3"/>
                </a:solidFill>
                <a:latin typeface="TT Ramillas"/>
                <a:ea typeface="TT Ramillas"/>
                <a:cs typeface="TT Ramillas"/>
                <a:sym typeface="TT Ramillas"/>
              </a:rPr>
              <a:t>。</a:t>
            </a:r>
          </a:p>
          <a:p>
            <a:pPr marL="0" lvl="0" indent="0" algn="l">
              <a:lnSpc>
                <a:spcPts val="4300"/>
              </a:lnSpc>
              <a:spcBef>
                <a:spcPct val="0"/>
              </a:spcBef>
            </a:pPr>
            <a:endParaRPr lang="en-US" sz="4300" spc="-86" dirty="0">
              <a:solidFill>
                <a:srgbClr val="F3F3F3"/>
              </a:solidFill>
              <a:latin typeface="TT Ramillas"/>
              <a:ea typeface="TT Ramillas"/>
              <a:cs typeface="TT Ramillas"/>
              <a:sym typeface="TT Ramillas"/>
            </a:endParaRPr>
          </a:p>
        </p:txBody>
      </p:sp>
      <p:sp>
        <p:nvSpPr>
          <p:cNvPr id="3" name="TextBox 3"/>
          <p:cNvSpPr txBox="1"/>
          <p:nvPr/>
        </p:nvSpPr>
        <p:spPr>
          <a:xfrm>
            <a:off x="666750" y="857250"/>
            <a:ext cx="13942401" cy="1346459"/>
          </a:xfrm>
          <a:prstGeom prst="rect">
            <a:avLst/>
          </a:prstGeom>
        </p:spPr>
        <p:txBody>
          <a:bodyPr lIns="0" tIns="0" rIns="0" bIns="0" rtlCol="0" anchor="t">
            <a:spAutoFit/>
          </a:bodyPr>
          <a:lstStyle/>
          <a:p>
            <a:pPr marL="0" lvl="0" indent="0" algn="l">
              <a:lnSpc>
                <a:spcPts val="9999"/>
              </a:lnSpc>
            </a:pPr>
            <a:r>
              <a:rPr lang="ko-KR" altLang="en-US" sz="9999" spc="-199" dirty="0" err="1">
                <a:solidFill>
                  <a:srgbClr val="FFFFFF"/>
                </a:solidFill>
                <a:latin typeface="TT Ramillas"/>
                <a:ea typeface="TT Ramillas"/>
                <a:cs typeface="TT Ramillas"/>
                <a:sym typeface="TT Ramillas"/>
              </a:rPr>
              <a:t>分析</a:t>
            </a:r>
            <a:endParaRPr lang="en-US" sz="9999" spc="-199" dirty="0">
              <a:solidFill>
                <a:srgbClr val="FFFFFF"/>
              </a:solidFill>
              <a:latin typeface="TT Ramillas"/>
              <a:ea typeface="TT Ramillas"/>
              <a:cs typeface="TT Ramillas"/>
              <a:sym typeface="TT Ramillas"/>
            </a:endParaRP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A2A6C"/>
        </a:solidFill>
        <a:effectLst/>
      </p:bgPr>
    </p:bg>
    <p:spTree>
      <p:nvGrpSpPr>
        <p:cNvPr id="1" name=""/>
        <p:cNvGrpSpPr/>
        <p:nvPr/>
      </p:nvGrpSpPr>
      <p:grpSpPr>
        <a:xfrm>
          <a:off x="0" y="0"/>
          <a:ext cx="0" cy="0"/>
          <a:chOff x="0" y="0"/>
          <a:chExt cx="0" cy="0"/>
        </a:xfrm>
      </p:grpSpPr>
      <p:sp>
        <p:nvSpPr>
          <p:cNvPr id="2" name="TextBox 2"/>
          <p:cNvSpPr txBox="1"/>
          <p:nvPr/>
        </p:nvSpPr>
        <p:spPr>
          <a:xfrm>
            <a:off x="666750" y="857250"/>
            <a:ext cx="8324850" cy="1346459"/>
          </a:xfrm>
          <a:prstGeom prst="rect">
            <a:avLst/>
          </a:prstGeom>
        </p:spPr>
        <p:txBody>
          <a:bodyPr lIns="0" tIns="0" rIns="0" bIns="0" rtlCol="0" anchor="t">
            <a:spAutoFit/>
          </a:bodyPr>
          <a:lstStyle/>
          <a:p>
            <a:pPr marL="0" lvl="0" indent="0" algn="l">
              <a:lnSpc>
                <a:spcPts val="9999"/>
              </a:lnSpc>
              <a:spcBef>
                <a:spcPct val="0"/>
              </a:spcBef>
            </a:pPr>
            <a:r>
              <a:rPr lang="en-US" sz="9999" spc="-199" dirty="0" err="1">
                <a:solidFill>
                  <a:srgbClr val="FFFFFF"/>
                </a:solidFill>
                <a:latin typeface="TT Ramillas"/>
                <a:ea typeface="TT Ramillas"/>
                <a:cs typeface="TT Ramillas"/>
                <a:sym typeface="TT Ramillas"/>
              </a:rPr>
              <a:t>まとめ</a:t>
            </a:r>
            <a:endParaRPr lang="en-US" sz="9999" spc="-199" dirty="0">
              <a:solidFill>
                <a:srgbClr val="FFFFFF"/>
              </a:solidFill>
              <a:latin typeface="TT Ramillas"/>
              <a:ea typeface="TT Ramillas"/>
              <a:cs typeface="TT Ramillas"/>
              <a:sym typeface="TT Ramillas"/>
            </a:endParaRPr>
          </a:p>
        </p:txBody>
      </p:sp>
      <p:sp>
        <p:nvSpPr>
          <p:cNvPr id="3" name="TextBox 3"/>
          <p:cNvSpPr txBox="1"/>
          <p:nvPr/>
        </p:nvSpPr>
        <p:spPr>
          <a:xfrm>
            <a:off x="838983" y="2924654"/>
            <a:ext cx="16420317" cy="3857625"/>
          </a:xfrm>
          <a:prstGeom prst="rect">
            <a:avLst/>
          </a:prstGeom>
        </p:spPr>
        <p:txBody>
          <a:bodyPr lIns="0" tIns="0" rIns="0" bIns="0" rtlCol="0" anchor="t">
            <a:spAutoFit/>
          </a:bodyPr>
          <a:lstStyle/>
          <a:p>
            <a:pPr algn="l">
              <a:lnSpc>
                <a:spcPts val="6000"/>
              </a:lnSpc>
            </a:pPr>
            <a:r>
              <a:rPr lang="en-US" sz="6000" spc="-120" dirty="0">
                <a:solidFill>
                  <a:srgbClr val="F3F3F3"/>
                </a:solidFill>
                <a:latin typeface="TT Ramillas"/>
                <a:ea typeface="TT Ramillas"/>
                <a:cs typeface="TT Ramillas"/>
                <a:sym typeface="TT Ramillas"/>
              </a:rPr>
              <a:t>最近20代の男女は性別や国籍に関係なく類似のトレンド拠点を共有しているが、</a:t>
            </a:r>
          </a:p>
          <a:p>
            <a:pPr algn="l">
              <a:lnSpc>
                <a:spcPts val="6000"/>
              </a:lnSpc>
            </a:pPr>
            <a:endParaRPr lang="en-US" sz="6000" spc="-120" dirty="0">
              <a:solidFill>
                <a:srgbClr val="F3F3F3"/>
              </a:solidFill>
              <a:latin typeface="TT Ramillas"/>
              <a:ea typeface="TT Ramillas"/>
              <a:cs typeface="TT Ramillas"/>
              <a:sym typeface="TT Ramillas"/>
            </a:endParaRPr>
          </a:p>
          <a:p>
            <a:pPr marL="0" lvl="0" indent="0" algn="l">
              <a:lnSpc>
                <a:spcPts val="6000"/>
              </a:lnSpc>
            </a:pPr>
            <a:r>
              <a:rPr lang="en-US" sz="6000" spc="-120" dirty="0" err="1">
                <a:solidFill>
                  <a:srgbClr val="F3F3F3"/>
                </a:solidFill>
                <a:latin typeface="TT Ramillas"/>
                <a:ea typeface="TT Ramillas"/>
                <a:cs typeface="TT Ramillas"/>
                <a:sym typeface="TT Ramillas"/>
              </a:rPr>
              <a:t>その空間を眺める関心の方向には違いが存在する</a:t>
            </a:r>
            <a:r>
              <a:rPr lang="en-US" sz="6000" spc="-120" dirty="0">
                <a:solidFill>
                  <a:srgbClr val="F3F3F3"/>
                </a:solidFill>
                <a:latin typeface="TT Ramillas"/>
                <a:ea typeface="TT Ramillas"/>
                <a:cs typeface="TT Ramillas"/>
                <a:sym typeface="TT Ramillas"/>
              </a:rPr>
              <a:t>。</a:t>
            </a: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A2A6C"/>
        </a:solidFill>
        <a:effectLst/>
      </p:bgPr>
    </p:bg>
    <p:spTree>
      <p:nvGrpSpPr>
        <p:cNvPr id="1" name=""/>
        <p:cNvGrpSpPr/>
        <p:nvPr/>
      </p:nvGrpSpPr>
      <p:grpSpPr>
        <a:xfrm>
          <a:off x="0" y="0"/>
          <a:ext cx="0" cy="0"/>
          <a:chOff x="0" y="0"/>
          <a:chExt cx="0" cy="0"/>
        </a:xfrm>
      </p:grpSpPr>
      <p:sp>
        <p:nvSpPr>
          <p:cNvPr id="2" name="TextBox 2"/>
          <p:cNvSpPr txBox="1"/>
          <p:nvPr/>
        </p:nvSpPr>
        <p:spPr>
          <a:xfrm>
            <a:off x="923365" y="2146559"/>
            <a:ext cx="16450235" cy="7540526"/>
          </a:xfrm>
          <a:prstGeom prst="rect">
            <a:avLst/>
          </a:prstGeom>
        </p:spPr>
        <p:txBody>
          <a:bodyPr wrap="square" lIns="0" tIns="0" rIns="0" bIns="0" rtlCol="0" anchor="t">
            <a:spAutoFit/>
          </a:bodyPr>
          <a:lstStyle/>
          <a:p>
            <a:r>
              <a:rPr lang="ko-KR" altLang="en-US" sz="3500" b="1" dirty="0" err="1">
                <a:solidFill>
                  <a:schemeClr val="bg1"/>
                </a:solidFill>
              </a:rPr>
              <a:t>分析上</a:t>
            </a:r>
            <a:r>
              <a:rPr lang="ja-JP" altLang="en-US" sz="3500" b="1">
                <a:solidFill>
                  <a:schemeClr val="bg1"/>
                </a:solidFill>
              </a:rPr>
              <a:t>の</a:t>
            </a:r>
            <a:r>
              <a:rPr lang="ko-KR" altLang="en-US" sz="3500" b="1">
                <a:solidFill>
                  <a:schemeClr val="bg1"/>
                </a:solidFill>
              </a:rPr>
              <a:t>前提</a:t>
            </a:r>
            <a:endParaRPr lang="ko-KR" altLang="en-US" sz="3500">
              <a:solidFill>
                <a:schemeClr val="bg1"/>
              </a:solidFill>
            </a:endParaRPr>
          </a:p>
          <a:p>
            <a:r>
              <a:rPr lang="ko-KR" altLang="en-US" sz="3500" dirty="0">
                <a:solidFill>
                  <a:schemeClr val="bg1"/>
                </a:solidFill>
              </a:rPr>
              <a:t>・</a:t>
            </a:r>
            <a:r>
              <a:rPr lang="ja-JP" altLang="en-US" sz="3500">
                <a:solidFill>
                  <a:schemeClr val="bg1"/>
                </a:solidFill>
              </a:rPr>
              <a:t>　</a:t>
            </a:r>
            <a:r>
              <a:rPr lang="ko-KR" altLang="en-US" sz="3500">
                <a:solidFill>
                  <a:schemeClr val="bg1"/>
                </a:solidFill>
              </a:rPr>
              <a:t>分析者</a:t>
            </a:r>
            <a:r>
              <a:rPr lang="ja-JP" altLang="en-US" sz="3500">
                <a:solidFill>
                  <a:schemeClr val="bg1"/>
                </a:solidFill>
              </a:rPr>
              <a:t>として</a:t>
            </a:r>
            <a:r>
              <a:rPr lang="ko-KR" altLang="en-US" sz="3500">
                <a:solidFill>
                  <a:schemeClr val="bg1"/>
                </a:solidFill>
              </a:rPr>
              <a:t>明示</a:t>
            </a:r>
            <a:r>
              <a:rPr lang="ja-JP" altLang="en-US" sz="3500">
                <a:solidFill>
                  <a:schemeClr val="bg1"/>
                </a:solidFill>
              </a:rPr>
              <a:t>すべき</a:t>
            </a:r>
            <a:r>
              <a:rPr lang="ko-KR" altLang="en-US" sz="3500">
                <a:solidFill>
                  <a:schemeClr val="bg1"/>
                </a:solidFill>
              </a:rPr>
              <a:t>技術的・構造的限界</a:t>
            </a:r>
          </a:p>
          <a:p>
            <a:endParaRPr lang="ko-KR" altLang="en-US" sz="3500" dirty="0">
              <a:solidFill>
                <a:schemeClr val="bg1"/>
              </a:solidFill>
            </a:endParaRPr>
          </a:p>
          <a:p>
            <a:r>
              <a:rPr lang="ja-JP" altLang="en-US" sz="3500" b="1">
                <a:solidFill>
                  <a:schemeClr val="bg1"/>
                </a:solidFill>
              </a:rPr>
              <a:t>データ</a:t>
            </a:r>
            <a:r>
              <a:rPr lang="ko-KR" altLang="en-US" sz="3500" b="1">
                <a:solidFill>
                  <a:schemeClr val="bg1"/>
                </a:solidFill>
              </a:rPr>
              <a:t>量</a:t>
            </a:r>
            <a:r>
              <a:rPr lang="ja-JP" altLang="en-US" sz="3500" b="1">
                <a:solidFill>
                  <a:schemeClr val="bg1"/>
                </a:solidFill>
              </a:rPr>
              <a:t>の</a:t>
            </a:r>
            <a:r>
              <a:rPr lang="ko-KR" altLang="en-US" sz="3500" b="1">
                <a:solidFill>
                  <a:schemeClr val="bg1"/>
                </a:solidFill>
              </a:rPr>
              <a:t>絶対的不足（</a:t>
            </a:r>
            <a:r>
              <a:rPr lang="en" altLang="ko-KR" sz="3500" b="1" dirty="0">
                <a:solidFill>
                  <a:schemeClr val="bg1"/>
                </a:solidFill>
              </a:rPr>
              <a:t>Sample Size</a:t>
            </a:r>
            <a:r>
              <a:rPr lang="ko-KR" altLang="en" sz="3500" b="1" dirty="0">
                <a:solidFill>
                  <a:schemeClr val="bg1"/>
                </a:solidFill>
              </a:rPr>
              <a:t>）</a:t>
            </a:r>
            <a:endParaRPr lang="en" altLang="ko-KR" sz="3500" dirty="0">
              <a:solidFill>
                <a:schemeClr val="bg1"/>
              </a:solidFill>
            </a:endParaRPr>
          </a:p>
          <a:p>
            <a:r>
              <a:rPr lang="ko-KR" altLang="en" sz="3500" dirty="0">
                <a:solidFill>
                  <a:schemeClr val="bg1"/>
                </a:solidFill>
              </a:rPr>
              <a:t>・</a:t>
            </a:r>
            <a:r>
              <a:rPr lang="ja-JP" altLang="en-US" sz="3500">
                <a:solidFill>
                  <a:schemeClr val="bg1"/>
                </a:solidFill>
              </a:rPr>
              <a:t>　</a:t>
            </a:r>
            <a:r>
              <a:rPr lang="ko-KR" altLang="en-US" sz="3500">
                <a:solidFill>
                  <a:schemeClr val="bg1"/>
                </a:solidFill>
              </a:rPr>
              <a:t>全体</a:t>
            </a:r>
            <a:r>
              <a:rPr lang="ja-JP" altLang="en-US" sz="3500">
                <a:solidFill>
                  <a:schemeClr val="bg1"/>
                </a:solidFill>
              </a:rPr>
              <a:t>の</a:t>
            </a:r>
            <a:r>
              <a:rPr lang="ko-KR" altLang="en-US" sz="3500">
                <a:solidFill>
                  <a:schemeClr val="bg1"/>
                </a:solidFill>
              </a:rPr>
              <a:t>回答者数</a:t>
            </a:r>
            <a:r>
              <a:rPr lang="ja-JP" altLang="en-US" sz="3500">
                <a:solidFill>
                  <a:schemeClr val="bg1"/>
                </a:solidFill>
              </a:rPr>
              <a:t>が</a:t>
            </a:r>
            <a:r>
              <a:rPr lang="ko-KR" altLang="en-US" sz="3500">
                <a:solidFill>
                  <a:schemeClr val="bg1"/>
                </a:solidFill>
              </a:rPr>
              <a:t>限定的</a:t>
            </a:r>
            <a:r>
              <a:rPr lang="en-US" altLang="ko-KR" sz="3500" dirty="0">
                <a:solidFill>
                  <a:schemeClr val="bg1"/>
                </a:solidFill>
              </a:rPr>
              <a:t>,</a:t>
            </a:r>
            <a:r>
              <a:rPr lang="ko-KR" altLang="en-US" sz="3500" dirty="0">
                <a:solidFill>
                  <a:schemeClr val="bg1"/>
                </a:solidFill>
              </a:rPr>
              <a:t> </a:t>
            </a:r>
            <a:r>
              <a:rPr lang="en-US" altLang="ko-KR" sz="3500" dirty="0">
                <a:solidFill>
                  <a:schemeClr val="bg1"/>
                </a:solidFill>
              </a:rPr>
              <a:t>20 </a:t>
            </a:r>
            <a:r>
              <a:rPr lang="ko-KR" altLang="en-US" sz="3500" dirty="0" err="1">
                <a:solidFill>
                  <a:schemeClr val="bg1"/>
                </a:solidFill>
              </a:rPr>
              <a:t>代全体</a:t>
            </a:r>
            <a:r>
              <a:rPr lang="ja-JP" altLang="en-US" sz="3500">
                <a:solidFill>
                  <a:schemeClr val="bg1"/>
                </a:solidFill>
              </a:rPr>
              <a:t>の</a:t>
            </a:r>
            <a:r>
              <a:rPr lang="ko-KR" altLang="en-US" sz="3500">
                <a:solidFill>
                  <a:schemeClr val="bg1"/>
                </a:solidFill>
              </a:rPr>
              <a:t>一般的傾向</a:t>
            </a:r>
            <a:r>
              <a:rPr lang="ja-JP" altLang="en-US" sz="3500">
                <a:solidFill>
                  <a:schemeClr val="bg1"/>
                </a:solidFill>
              </a:rPr>
              <a:t>としての</a:t>
            </a:r>
            <a:r>
              <a:rPr lang="ko-KR" altLang="en-US" sz="3500">
                <a:solidFill>
                  <a:schemeClr val="bg1"/>
                </a:solidFill>
              </a:rPr>
              <a:t>一般化</a:t>
            </a:r>
            <a:r>
              <a:rPr lang="ja-JP" altLang="en-US" sz="3500">
                <a:solidFill>
                  <a:schemeClr val="bg1"/>
                </a:solidFill>
              </a:rPr>
              <a:t>には</a:t>
            </a:r>
            <a:r>
              <a:rPr lang="ko-KR" altLang="en-US" sz="3500">
                <a:solidFill>
                  <a:schemeClr val="bg1"/>
                </a:solidFill>
              </a:rPr>
              <a:t>制約存在</a:t>
            </a:r>
          </a:p>
          <a:p>
            <a:endParaRPr lang="ko-KR" altLang="en-US" sz="3500" dirty="0">
              <a:solidFill>
                <a:schemeClr val="bg1"/>
              </a:solidFill>
            </a:endParaRPr>
          </a:p>
          <a:p>
            <a:r>
              <a:rPr lang="ko-KR" altLang="en-US" sz="3500" b="1" dirty="0" err="1">
                <a:solidFill>
                  <a:schemeClr val="bg1"/>
                </a:solidFill>
              </a:rPr>
              <a:t>少数投票</a:t>
            </a:r>
            <a:r>
              <a:rPr lang="ja-JP" altLang="en-US" sz="3500" b="1">
                <a:solidFill>
                  <a:schemeClr val="bg1"/>
                </a:solidFill>
              </a:rPr>
              <a:t>による</a:t>
            </a:r>
            <a:r>
              <a:rPr lang="ko-KR" altLang="en-US" sz="3500" b="1">
                <a:solidFill>
                  <a:schemeClr val="bg1"/>
                </a:solidFill>
              </a:rPr>
              <a:t>歪</a:t>
            </a:r>
            <a:r>
              <a:rPr lang="ja-JP" altLang="en-US" sz="3500" b="1">
                <a:solidFill>
                  <a:schemeClr val="bg1"/>
                </a:solidFill>
              </a:rPr>
              <a:t>み（</a:t>
            </a:r>
            <a:r>
              <a:rPr lang="en" altLang="ko-KR" sz="3500" b="1" dirty="0">
                <a:solidFill>
                  <a:schemeClr val="bg1"/>
                </a:solidFill>
              </a:rPr>
              <a:t>JYP </a:t>
            </a:r>
            <a:r>
              <a:rPr lang="ja-JP" altLang="en-US" sz="3500" b="1">
                <a:solidFill>
                  <a:schemeClr val="bg1"/>
                </a:solidFill>
              </a:rPr>
              <a:t>ケース）</a:t>
            </a:r>
            <a:endParaRPr lang="ja-JP" altLang="en-US" sz="3500">
              <a:solidFill>
                <a:schemeClr val="bg1"/>
              </a:solidFill>
            </a:endParaRPr>
          </a:p>
          <a:p>
            <a:r>
              <a:rPr lang="ja-JP" altLang="en-US" sz="3500">
                <a:solidFill>
                  <a:schemeClr val="bg1"/>
                </a:solidFill>
              </a:rPr>
              <a:t>・</a:t>
            </a:r>
            <a:r>
              <a:rPr lang="en" altLang="ko-KR" sz="3500">
                <a:solidFill>
                  <a:schemeClr val="bg1"/>
                </a:solidFill>
              </a:rPr>
              <a:t>JYP </a:t>
            </a:r>
            <a:r>
              <a:rPr lang="ko-KR" altLang="en-US" sz="3500" dirty="0" err="1">
                <a:solidFill>
                  <a:schemeClr val="bg1"/>
                </a:solidFill>
              </a:rPr>
              <a:t>社屋</a:t>
            </a:r>
            <a:r>
              <a:rPr lang="ja-JP" altLang="en-US" sz="3500">
                <a:solidFill>
                  <a:schemeClr val="bg1"/>
                </a:solidFill>
              </a:rPr>
              <a:t>が</a:t>
            </a:r>
            <a:r>
              <a:rPr lang="ko-KR" altLang="en-US" sz="3500">
                <a:solidFill>
                  <a:schemeClr val="bg1"/>
                </a:solidFill>
              </a:rPr>
              <a:t>上位（</a:t>
            </a:r>
            <a:r>
              <a:rPr lang="en-US" altLang="ko-KR" sz="3500" dirty="0">
                <a:solidFill>
                  <a:schemeClr val="bg1"/>
                </a:solidFill>
              </a:rPr>
              <a:t>2 </a:t>
            </a:r>
            <a:r>
              <a:rPr lang="ko-KR" altLang="en-US" sz="3500" dirty="0" err="1">
                <a:solidFill>
                  <a:schemeClr val="bg1"/>
                </a:solidFill>
              </a:rPr>
              <a:t>位</a:t>
            </a:r>
            <a:r>
              <a:rPr lang="ko-KR" altLang="en-US" sz="3500" dirty="0">
                <a:solidFill>
                  <a:schemeClr val="bg1"/>
                </a:solidFill>
              </a:rPr>
              <a:t>）</a:t>
            </a:r>
            <a:r>
              <a:rPr lang="ja-JP" altLang="en-US" sz="3500">
                <a:solidFill>
                  <a:schemeClr val="bg1"/>
                </a:solidFill>
              </a:rPr>
              <a:t>に</a:t>
            </a:r>
            <a:r>
              <a:rPr lang="ko-KR" altLang="en-US" sz="3500">
                <a:solidFill>
                  <a:schemeClr val="bg1"/>
                </a:solidFill>
              </a:rPr>
              <a:t>位置付</a:t>
            </a:r>
            <a:r>
              <a:rPr lang="ja-JP" altLang="en-US" sz="3500">
                <a:solidFill>
                  <a:schemeClr val="bg1"/>
                </a:solidFill>
              </a:rPr>
              <a:t>けられた</a:t>
            </a:r>
            <a:r>
              <a:rPr lang="ko-KR" altLang="en-US" sz="3500">
                <a:solidFill>
                  <a:schemeClr val="bg1"/>
                </a:solidFill>
              </a:rPr>
              <a:t>事例</a:t>
            </a:r>
            <a:r>
              <a:rPr lang="en-US" altLang="ko-KR" sz="3500" dirty="0">
                <a:solidFill>
                  <a:schemeClr val="bg1"/>
                </a:solidFill>
              </a:rPr>
              <a:t>,</a:t>
            </a:r>
            <a:r>
              <a:rPr lang="ko-KR" altLang="en-US" sz="3500" dirty="0">
                <a:solidFill>
                  <a:schemeClr val="bg1"/>
                </a:solidFill>
              </a:rPr>
              <a:t> </a:t>
            </a:r>
            <a:r>
              <a:rPr lang="ko-KR" altLang="en-US" sz="3500" dirty="0" err="1">
                <a:solidFill>
                  <a:schemeClr val="bg1"/>
                </a:solidFill>
              </a:rPr>
              <a:t>少数</a:t>
            </a:r>
            <a:r>
              <a:rPr lang="ja-JP" altLang="en-US" sz="3500">
                <a:solidFill>
                  <a:schemeClr val="bg1"/>
                </a:solidFill>
              </a:rPr>
              <a:t>サンプル</a:t>
            </a:r>
            <a:r>
              <a:rPr lang="ko-KR" altLang="en-US" sz="3500">
                <a:solidFill>
                  <a:schemeClr val="bg1"/>
                </a:solidFill>
              </a:rPr>
              <a:t>環境下</a:t>
            </a:r>
            <a:r>
              <a:rPr lang="ja-JP" altLang="en-US" sz="3500">
                <a:solidFill>
                  <a:schemeClr val="bg1"/>
                </a:solidFill>
              </a:rPr>
              <a:t>で</a:t>
            </a:r>
            <a:r>
              <a:rPr lang="en-US" altLang="ko-KR" sz="3500" dirty="0">
                <a:solidFill>
                  <a:schemeClr val="bg1"/>
                </a:solidFill>
              </a:rPr>
              <a:t>,</a:t>
            </a:r>
            <a:r>
              <a:rPr lang="ko-KR" altLang="en-US" sz="3500" dirty="0">
                <a:solidFill>
                  <a:schemeClr val="bg1"/>
                </a:solidFill>
              </a:rPr>
              <a:t> </a:t>
            </a:r>
            <a:endParaRPr lang="en-US" altLang="ko-KR" sz="3500" dirty="0">
              <a:solidFill>
                <a:schemeClr val="bg1"/>
              </a:solidFill>
            </a:endParaRPr>
          </a:p>
          <a:p>
            <a:r>
              <a:rPr lang="ja-JP" altLang="en-US" sz="3500">
                <a:solidFill>
                  <a:schemeClr val="bg1"/>
                </a:solidFill>
              </a:rPr>
              <a:t>　「</a:t>
            </a:r>
            <a:r>
              <a:rPr lang="ko-KR" altLang="en-US" sz="3500">
                <a:solidFill>
                  <a:schemeClr val="bg1"/>
                </a:solidFill>
              </a:rPr>
              <a:t>高</a:t>
            </a:r>
            <a:r>
              <a:rPr lang="ja-JP" altLang="en-US" sz="3500">
                <a:solidFill>
                  <a:schemeClr val="bg1"/>
                </a:solidFill>
              </a:rPr>
              <a:t>い</a:t>
            </a:r>
            <a:r>
              <a:rPr lang="ko-KR" altLang="en-US" sz="3500">
                <a:solidFill>
                  <a:schemeClr val="bg1"/>
                </a:solidFill>
              </a:rPr>
              <a:t>検索量」</a:t>
            </a:r>
            <a:r>
              <a:rPr lang="en-US" altLang="ko-KR" sz="3500" dirty="0">
                <a:solidFill>
                  <a:schemeClr val="bg1"/>
                </a:solidFill>
              </a:rPr>
              <a:t>×</a:t>
            </a:r>
            <a:r>
              <a:rPr lang="ko-KR" altLang="en-US" sz="3500" dirty="0">
                <a:solidFill>
                  <a:schemeClr val="bg1"/>
                </a:solidFill>
              </a:rPr>
              <a:t>「</a:t>
            </a:r>
            <a:r>
              <a:rPr lang="ko-KR" altLang="en-US" sz="3500" dirty="0" err="1">
                <a:solidFill>
                  <a:schemeClr val="bg1"/>
                </a:solidFill>
              </a:rPr>
              <a:t>個人</a:t>
            </a:r>
            <a:r>
              <a:rPr lang="ja-JP" altLang="en-US" sz="3500">
                <a:solidFill>
                  <a:schemeClr val="bg1"/>
                </a:solidFill>
              </a:rPr>
              <a:t>の</a:t>
            </a:r>
            <a:r>
              <a:rPr lang="ko-KR" altLang="en-US" sz="3500">
                <a:solidFill>
                  <a:schemeClr val="bg1"/>
                </a:solidFill>
              </a:rPr>
              <a:t>強</a:t>
            </a:r>
            <a:r>
              <a:rPr lang="ja-JP" altLang="en-US" sz="3500">
                <a:solidFill>
                  <a:schemeClr val="bg1"/>
                </a:solidFill>
              </a:rPr>
              <a:t>い</a:t>
            </a:r>
            <a:r>
              <a:rPr lang="ko-KR" altLang="en-US" sz="3500">
                <a:solidFill>
                  <a:schemeClr val="bg1"/>
                </a:solidFill>
              </a:rPr>
              <a:t>嗜好」</a:t>
            </a:r>
            <a:r>
              <a:rPr lang="ja-JP" altLang="en-US" sz="3500">
                <a:solidFill>
                  <a:schemeClr val="bg1"/>
                </a:solidFill>
              </a:rPr>
              <a:t>が</a:t>
            </a:r>
            <a:r>
              <a:rPr lang="ko-KR" altLang="en-US" sz="3500">
                <a:solidFill>
                  <a:schemeClr val="bg1"/>
                </a:solidFill>
              </a:rPr>
              <a:t>結合</a:t>
            </a:r>
            <a:r>
              <a:rPr lang="ja-JP" altLang="en-US" sz="3500">
                <a:solidFill>
                  <a:schemeClr val="bg1"/>
                </a:solidFill>
              </a:rPr>
              <a:t>した</a:t>
            </a:r>
            <a:r>
              <a:rPr lang="ko-KR" altLang="en-US" sz="3500">
                <a:solidFill>
                  <a:schemeClr val="bg1"/>
                </a:solidFill>
              </a:rPr>
              <a:t>結果</a:t>
            </a:r>
            <a:r>
              <a:rPr lang="en-US" altLang="ko-KR" sz="3500" dirty="0">
                <a:solidFill>
                  <a:schemeClr val="bg1"/>
                </a:solidFill>
              </a:rPr>
              <a:t>,</a:t>
            </a:r>
            <a:r>
              <a:rPr lang="ko-KR" altLang="en-US" sz="3500" dirty="0">
                <a:solidFill>
                  <a:schemeClr val="bg1"/>
                </a:solidFill>
              </a:rPr>
              <a:t> </a:t>
            </a:r>
            <a:r>
              <a:rPr lang="ja-JP" altLang="en-US" sz="3500">
                <a:solidFill>
                  <a:schemeClr val="bg1"/>
                </a:solidFill>
              </a:rPr>
              <a:t>データ</a:t>
            </a:r>
            <a:r>
              <a:rPr lang="ko-KR" altLang="en-US" sz="3500">
                <a:solidFill>
                  <a:schemeClr val="bg1"/>
                </a:solidFill>
              </a:rPr>
              <a:t>不足時</a:t>
            </a:r>
            <a:r>
              <a:rPr lang="ja-JP" altLang="en-US" sz="3500">
                <a:solidFill>
                  <a:schemeClr val="bg1"/>
                </a:solidFill>
              </a:rPr>
              <a:t>に</a:t>
            </a:r>
            <a:r>
              <a:rPr lang="ko-KR" altLang="en-US" sz="3500">
                <a:solidFill>
                  <a:schemeClr val="bg1"/>
                </a:solidFill>
              </a:rPr>
              <a:t>顕在化</a:t>
            </a:r>
            <a:r>
              <a:rPr lang="ja-JP" altLang="en-US" sz="3500">
                <a:solidFill>
                  <a:schemeClr val="bg1"/>
                </a:solidFill>
              </a:rPr>
              <a:t>する</a:t>
            </a:r>
            <a:endParaRPr lang="en-US" altLang="ja-JP" sz="3500" dirty="0">
              <a:solidFill>
                <a:schemeClr val="bg1"/>
              </a:solidFill>
            </a:endParaRPr>
          </a:p>
          <a:p>
            <a:r>
              <a:rPr lang="ja-JP" altLang="en-US" sz="3500">
                <a:solidFill>
                  <a:schemeClr val="bg1"/>
                </a:solidFill>
              </a:rPr>
              <a:t>　アルゴリズム</a:t>
            </a:r>
            <a:r>
              <a:rPr lang="ko-KR" altLang="en-US" sz="3500">
                <a:solidFill>
                  <a:schemeClr val="bg1"/>
                </a:solidFill>
              </a:rPr>
              <a:t>感度問題</a:t>
            </a:r>
            <a:r>
              <a:rPr lang="ja-JP" altLang="en-US" sz="3500">
                <a:solidFill>
                  <a:schemeClr val="bg1"/>
                </a:solidFill>
              </a:rPr>
              <a:t>の</a:t>
            </a:r>
            <a:r>
              <a:rPr lang="ko-KR" altLang="en-US" sz="3500">
                <a:solidFill>
                  <a:schemeClr val="bg1"/>
                </a:solidFill>
              </a:rPr>
              <a:t>示唆</a:t>
            </a:r>
          </a:p>
          <a:p>
            <a:endParaRPr lang="ko-KR" altLang="en-US" sz="3500" dirty="0">
              <a:solidFill>
                <a:schemeClr val="bg1"/>
              </a:solidFill>
            </a:endParaRPr>
          </a:p>
          <a:p>
            <a:r>
              <a:rPr lang="ja-JP" altLang="en-US" sz="3500" b="1">
                <a:solidFill>
                  <a:schemeClr val="bg1"/>
                </a:solidFill>
              </a:rPr>
              <a:t>データ</a:t>
            </a:r>
            <a:r>
              <a:rPr lang="ko-KR" altLang="en-US" sz="3500" b="1">
                <a:solidFill>
                  <a:schemeClr val="bg1"/>
                </a:solidFill>
              </a:rPr>
              <a:t>不均衡</a:t>
            </a:r>
            <a:endParaRPr lang="ko-KR" altLang="en-US" sz="3500">
              <a:solidFill>
                <a:schemeClr val="bg1"/>
              </a:solidFill>
            </a:endParaRPr>
          </a:p>
          <a:p>
            <a:r>
              <a:rPr lang="ko-KR" altLang="en-US" sz="3500" dirty="0">
                <a:solidFill>
                  <a:schemeClr val="bg1"/>
                </a:solidFill>
              </a:rPr>
              <a:t>・</a:t>
            </a:r>
            <a:r>
              <a:rPr lang="ja-JP" altLang="en-US" sz="3500">
                <a:solidFill>
                  <a:schemeClr val="bg1"/>
                </a:solidFill>
              </a:rPr>
              <a:t>　</a:t>
            </a:r>
            <a:r>
              <a:rPr lang="ko-KR" altLang="en-US" sz="3500">
                <a:solidFill>
                  <a:schemeClr val="bg1"/>
                </a:solidFill>
              </a:rPr>
              <a:t>男性回答</a:t>
            </a:r>
            <a:r>
              <a:rPr lang="ja-JP" altLang="en-US" sz="3500">
                <a:solidFill>
                  <a:schemeClr val="bg1"/>
                </a:solidFill>
              </a:rPr>
              <a:t>データが</a:t>
            </a:r>
            <a:r>
              <a:rPr lang="ko-KR" altLang="en-US" sz="3500">
                <a:solidFill>
                  <a:schemeClr val="bg1"/>
                </a:solidFill>
              </a:rPr>
              <a:t>女性</a:t>
            </a:r>
            <a:r>
              <a:rPr lang="ja-JP" altLang="en-US" sz="3500">
                <a:solidFill>
                  <a:schemeClr val="bg1"/>
                </a:solidFill>
              </a:rPr>
              <a:t>に</a:t>
            </a:r>
            <a:r>
              <a:rPr lang="ko-KR" altLang="en-US" sz="3500">
                <a:solidFill>
                  <a:schemeClr val="bg1"/>
                </a:solidFill>
              </a:rPr>
              <a:t>比</a:t>
            </a:r>
            <a:r>
              <a:rPr lang="ja-JP" altLang="en-US" sz="3500">
                <a:solidFill>
                  <a:schemeClr val="bg1"/>
                </a:solidFill>
              </a:rPr>
              <a:t>べて</a:t>
            </a:r>
            <a:r>
              <a:rPr lang="ko-KR" altLang="en-US" sz="3500">
                <a:solidFill>
                  <a:schemeClr val="bg1"/>
                </a:solidFill>
              </a:rPr>
              <a:t>著</a:t>
            </a:r>
            <a:r>
              <a:rPr lang="ja-JP" altLang="en-US" sz="3500">
                <a:solidFill>
                  <a:schemeClr val="bg1"/>
                </a:solidFill>
              </a:rPr>
              <a:t>しく</a:t>
            </a:r>
            <a:r>
              <a:rPr lang="ko-KR" altLang="en-US" sz="3500">
                <a:solidFill>
                  <a:schemeClr val="bg1"/>
                </a:solidFill>
              </a:rPr>
              <a:t>少ない</a:t>
            </a:r>
          </a:p>
          <a:p>
            <a:r>
              <a:rPr lang="ko-KR" altLang="en-US" sz="3500" dirty="0">
                <a:solidFill>
                  <a:schemeClr val="bg1"/>
                </a:solidFill>
              </a:rPr>
              <a:t>・</a:t>
            </a:r>
            <a:r>
              <a:rPr lang="ja-JP" altLang="en-US" sz="3500">
                <a:solidFill>
                  <a:schemeClr val="bg1"/>
                </a:solidFill>
              </a:rPr>
              <a:t>　</a:t>
            </a:r>
            <a:r>
              <a:rPr lang="ko-KR" altLang="en-US" sz="3500">
                <a:solidFill>
                  <a:schemeClr val="bg1"/>
                </a:solidFill>
              </a:rPr>
              <a:t>男性向</a:t>
            </a:r>
            <a:r>
              <a:rPr lang="ja-JP" altLang="en-US" sz="3500">
                <a:solidFill>
                  <a:schemeClr val="bg1"/>
                </a:solidFill>
              </a:rPr>
              <a:t>けマップの</a:t>
            </a:r>
            <a:r>
              <a:rPr lang="ko-KR" altLang="en-US" sz="3500">
                <a:solidFill>
                  <a:schemeClr val="bg1"/>
                </a:solidFill>
              </a:rPr>
              <a:t>信頼性</a:t>
            </a:r>
            <a:r>
              <a:rPr lang="ja-JP" altLang="en-US" sz="3500">
                <a:solidFill>
                  <a:schemeClr val="bg1"/>
                </a:solidFill>
              </a:rPr>
              <a:t>が</a:t>
            </a:r>
            <a:r>
              <a:rPr lang="ko-KR" altLang="en-US" sz="3500">
                <a:solidFill>
                  <a:schemeClr val="bg1"/>
                </a:solidFill>
              </a:rPr>
              <a:t>相対的</a:t>
            </a:r>
            <a:r>
              <a:rPr lang="ja-JP" altLang="en-US" sz="3500">
                <a:solidFill>
                  <a:schemeClr val="bg1"/>
                </a:solidFill>
              </a:rPr>
              <a:t>に</a:t>
            </a:r>
            <a:r>
              <a:rPr lang="ko-KR" altLang="en-US" sz="3500">
                <a:solidFill>
                  <a:schemeClr val="bg1"/>
                </a:solidFill>
              </a:rPr>
              <a:t>低下</a:t>
            </a:r>
          </a:p>
        </p:txBody>
      </p:sp>
      <p:sp>
        <p:nvSpPr>
          <p:cNvPr id="3" name="TextBox 3"/>
          <p:cNvSpPr txBox="1"/>
          <p:nvPr/>
        </p:nvSpPr>
        <p:spPr>
          <a:xfrm>
            <a:off x="914400" y="800100"/>
            <a:ext cx="6886575" cy="1346459"/>
          </a:xfrm>
          <a:prstGeom prst="rect">
            <a:avLst/>
          </a:prstGeom>
        </p:spPr>
        <p:txBody>
          <a:bodyPr lIns="0" tIns="0" rIns="0" bIns="0" rtlCol="0" anchor="t">
            <a:spAutoFit/>
          </a:bodyPr>
          <a:lstStyle/>
          <a:p>
            <a:pPr marL="0" lvl="0" indent="0" algn="l">
              <a:lnSpc>
                <a:spcPts val="9999"/>
              </a:lnSpc>
            </a:pPr>
            <a:r>
              <a:rPr lang="en-US" sz="9999" spc="-199" dirty="0" err="1">
                <a:solidFill>
                  <a:srgbClr val="FFFFFF"/>
                </a:solidFill>
                <a:latin typeface="TT Ramillas"/>
                <a:ea typeface="TT Ramillas"/>
                <a:cs typeface="TT Ramillas"/>
                <a:sym typeface="TT Ramillas"/>
              </a:rPr>
              <a:t>課題</a:t>
            </a:r>
            <a:endParaRPr lang="en-US" sz="9999" spc="-199" dirty="0">
              <a:solidFill>
                <a:srgbClr val="FFFFFF"/>
              </a:solidFill>
              <a:latin typeface="TT Ramillas"/>
              <a:ea typeface="TT Ramillas"/>
              <a:cs typeface="TT Ramillas"/>
              <a:sym typeface="TT Ramillas"/>
            </a:endParaRP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D32F2F"/>
        </a:solidFill>
        <a:effectLst/>
      </p:bgPr>
    </p:bg>
    <p:spTree>
      <p:nvGrpSpPr>
        <p:cNvPr id="1" name=""/>
        <p:cNvGrpSpPr/>
        <p:nvPr/>
      </p:nvGrpSpPr>
      <p:grpSpPr>
        <a:xfrm>
          <a:off x="0" y="0"/>
          <a:ext cx="0" cy="0"/>
          <a:chOff x="0" y="0"/>
          <a:chExt cx="0" cy="0"/>
        </a:xfrm>
      </p:grpSpPr>
      <p:sp>
        <p:nvSpPr>
          <p:cNvPr id="2" name="TextBox 2"/>
          <p:cNvSpPr txBox="1"/>
          <p:nvPr/>
        </p:nvSpPr>
        <p:spPr>
          <a:xfrm>
            <a:off x="7805732" y="4573588"/>
            <a:ext cx="2676536" cy="1330324"/>
          </a:xfrm>
          <a:prstGeom prst="rect">
            <a:avLst/>
          </a:prstGeom>
        </p:spPr>
        <p:txBody>
          <a:bodyPr lIns="0" tIns="0" rIns="0" bIns="0" rtlCol="0" anchor="t">
            <a:spAutoFit/>
          </a:bodyPr>
          <a:lstStyle/>
          <a:p>
            <a:pPr marL="0" lvl="0" indent="0" algn="l">
              <a:lnSpc>
                <a:spcPts val="9999"/>
              </a:lnSpc>
            </a:pPr>
            <a:r>
              <a:rPr lang="en-US" sz="9999" spc="-199">
                <a:solidFill>
                  <a:srgbClr val="FFFFFF"/>
                </a:solidFill>
                <a:latin typeface="TT Ramillas"/>
                <a:ea typeface="TT Ramillas"/>
                <a:cs typeface="TT Ramillas"/>
                <a:sym typeface="TT Ramillas"/>
              </a:rPr>
              <a:t>Q&amp;A</a:t>
            </a:r>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199</TotalTime>
  <Words>670</Words>
  <Application>Microsoft Macintosh PowerPoint</Application>
  <PresentationFormat>사용자 지정</PresentationFormat>
  <Paragraphs>122</Paragraphs>
  <Slides>15</Slides>
  <Notes>0</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15</vt:i4>
      </vt:variant>
    </vt:vector>
  </HeadingPairs>
  <TitlesOfParts>
    <vt:vector size="21" baseType="lpstr">
      <vt:lpstr>TT Ramillas</vt:lpstr>
      <vt:lpstr>MS PMincho</vt:lpstr>
      <vt:lpstr>TT Interphases</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프레젠테이션 - 인기 스팟</dc:title>
  <dc:description>프레젠테이션 - 인기 스팟</dc:description>
  <cp:lastModifiedBy>이연제</cp:lastModifiedBy>
  <cp:revision>11</cp:revision>
  <cp:lastPrinted>2026-01-28T01:41:20Z</cp:lastPrinted>
  <dcterms:created xsi:type="dcterms:W3CDTF">2006-08-16T00:00:00Z</dcterms:created>
  <dcterms:modified xsi:type="dcterms:W3CDTF">2026-01-28T01:41:51Z</dcterms:modified>
  <dc:identifier>DAG_Hd7r4E8</dc:identifier>
</cp:coreProperties>
</file>